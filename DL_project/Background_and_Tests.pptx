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3"/>
  </p:notesMasterIdLst>
  <p:sldIdLst>
    <p:sldId id="256" r:id="rId2"/>
    <p:sldId id="257" r:id="rId3"/>
    <p:sldId id="273" r:id="rId4"/>
    <p:sldId id="259" r:id="rId5"/>
    <p:sldId id="318" r:id="rId6"/>
    <p:sldId id="261" r:id="rId7"/>
    <p:sldId id="301" r:id="rId8"/>
    <p:sldId id="298" r:id="rId9"/>
    <p:sldId id="260" r:id="rId10"/>
    <p:sldId id="262" r:id="rId11"/>
    <p:sldId id="263" r:id="rId12"/>
    <p:sldId id="264" r:id="rId13"/>
    <p:sldId id="276" r:id="rId14"/>
    <p:sldId id="279" r:id="rId15"/>
    <p:sldId id="282" r:id="rId16"/>
    <p:sldId id="277" r:id="rId17"/>
    <p:sldId id="280" r:id="rId18"/>
    <p:sldId id="278" r:id="rId19"/>
    <p:sldId id="281" r:id="rId20"/>
    <p:sldId id="265" r:id="rId21"/>
    <p:sldId id="291" r:id="rId22"/>
    <p:sldId id="271" r:id="rId23"/>
    <p:sldId id="272" r:id="rId24"/>
    <p:sldId id="293" r:id="rId25"/>
    <p:sldId id="294" r:id="rId26"/>
    <p:sldId id="319" r:id="rId27"/>
    <p:sldId id="295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03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B25"/>
    <a:srgbClr val="1305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91"/>
    <p:restoredTop sz="94760"/>
  </p:normalViewPr>
  <p:slideViewPr>
    <p:cSldViewPr snapToGrid="0">
      <p:cViewPr varScale="1">
        <p:scale>
          <a:sx n="104" d="100"/>
          <a:sy n="104" d="100"/>
        </p:scale>
        <p:origin x="22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F206B-D1D0-5547-9DE6-EA93B5F9F556}" type="datetimeFigureOut">
              <a:rPr lang="en-US" smtClean="0"/>
              <a:t>6/18/25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484B9-06DF-CE43-ACBC-ECBEF0FD5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03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8A30-A22F-F441-8761-76733B128F41}" type="datetime1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95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0ACEF-C27A-984D-A168-45C7622FED81}" type="datetime1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3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7307F-C323-4744-BFE0-0F92459743AC}" type="datetime1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2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AE84-CE65-A949-9326-D3D461288C55}" type="datetime1">
              <a:rPr lang="en-US" smtClean="0"/>
              <a:t>6/18/25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7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D5CB1-CE32-3A4E-924D-DCDAA82E8752}" type="datetime1">
              <a:rPr lang="en-US" smtClean="0"/>
              <a:t>6/18/25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79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4573-3745-2848-ADF5-B9E0DEB7D28C}" type="datetime1">
              <a:rPr lang="en-US" smtClean="0"/>
              <a:t>6/18/25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2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F2394-BB3B-924B-8543-1A8B70C0354D}" type="datetime1">
              <a:rPr lang="en-US" smtClean="0"/>
              <a:t>6/18/25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8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718F1-743F-CE40-9F88-57E1B74C8D6A}" type="datetime1">
              <a:rPr lang="en-US" smtClean="0"/>
              <a:t>6/18/25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1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D3B83-577D-E74B-A03D-2F2F07BD4319}" type="datetime1">
              <a:rPr lang="en-US" smtClean="0"/>
              <a:t>6/18/25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3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863-C5CC-DB45-824A-8090215D3277}" type="datetime1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29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4986-74B2-3D46-AABA-47AF837FC32F}" type="datetime1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69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6BFF179-4099-0442-BB6F-03C456A2C727}" type="datetime1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FF230B4-38DB-014E-9F0F-88F1DD19F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261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colorful structure&#10;&#10;Description automatically generated">
            <a:extLst>
              <a:ext uri="{FF2B5EF4-FFF2-40B4-BE49-F238E27FC236}">
                <a16:creationId xmlns:a16="http://schemas.microsoft.com/office/drawing/2014/main" id="{347ED420-E536-90F7-A7D6-A5F58225D5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25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6F1F26-005D-535D-ECB5-1652DB9EB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5100" b="1">
                <a:solidFill>
                  <a:schemeClr val="bg1"/>
                </a:solidFill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Emulsify :</a:t>
            </a:r>
            <a:br>
              <a:rPr lang="en-US" sz="5100" b="1">
                <a:solidFill>
                  <a:schemeClr val="bg1"/>
                </a:solidFill>
                <a:latin typeface="Baloo Tamma 2 SemiBold" panose="03080502040302020200" pitchFamily="66" charset="77"/>
                <a:cs typeface="Baloo Tamma 2 SemiBold" panose="03080502040302020200" pitchFamily="66" charset="77"/>
              </a:rPr>
            </a:br>
            <a:r>
              <a:rPr lang="en-US" sz="5100" b="1">
                <a:solidFill>
                  <a:schemeClr val="bg1"/>
                </a:solidFill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Investigating Protein-Lipid Interaction with Deep Learning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5FC9F-105B-0462-F1A6-5F7E6E7A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089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212C2427-5BBF-2228-6F5A-91BC062412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1B7CB3-ADE6-5FF3-76D9-D5E5E4042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-1"/>
            <a:ext cx="9792471" cy="156754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Peripheral membrane Protein (PMP)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B9B9E5-844C-194E-E30B-70EAB0FC6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957665"/>
            <a:ext cx="9792471" cy="3171423"/>
          </a:xfrm>
        </p:spPr>
        <p:txBody>
          <a:bodyPr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1026" name="Picture 2" descr="Membrane Proteins - Definition, Types, Structure, &amp; Functions">
            <a:extLst>
              <a:ext uri="{FF2B5EF4-FFF2-40B4-BE49-F238E27FC236}">
                <a16:creationId xmlns:a16="http://schemas.microsoft.com/office/drawing/2014/main" id="{BB4AF05C-3B2A-5076-5638-A92A9A0F3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755" y="1347070"/>
            <a:ext cx="7331321" cy="478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61CD7-5A2D-BE46-03A1-BC7B6E9C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65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212C2427-5BBF-2228-6F5A-91BC062412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1B7CB3-ADE6-5FF3-76D9-D5E5E4042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"/>
            <a:ext cx="9792471" cy="152818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Baloo Tamma 2 SemiBold" panose="03080502040302020200" pitchFamily="66" charset="77"/>
                <a:ea typeface="3270 Nerd Font" panose="02000509000000000000" pitchFamily="49" charset="0"/>
                <a:cs typeface="Baloo Tamma 2 SemiBold" panose="03080502040302020200" pitchFamily="66" charset="77"/>
              </a:rPr>
              <a:t>Lipid Transfer Protein (LTP)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B9B9E5-844C-194E-E30B-70EAB0FC6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957665"/>
            <a:ext cx="9792471" cy="3171423"/>
          </a:xfrm>
        </p:spPr>
        <p:txBody>
          <a:bodyPr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2050" name="Picture 2" descr="Lipid transfer proteins: the lipid commute via shuttles, bridges and tubes  | Nature Reviews Molecular Cell Biology">
            <a:extLst>
              <a:ext uri="{FF2B5EF4-FFF2-40B4-BE49-F238E27FC236}">
                <a16:creationId xmlns:a16="http://schemas.microsoft.com/office/drawing/2014/main" id="{EFF2BC78-5357-1F8B-778E-729B2B9BE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230" y="1608696"/>
            <a:ext cx="8540372" cy="4520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41C5F2-E6C6-9887-F417-E5F9E98E4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89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43FEAC5D-B346-C81B-D617-64573AF8A8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1B7CB3-ADE6-5FF3-76D9-D5E5E404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4426B-4E23-65E8-F712-D521EDEB6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Experimental structures are sparse (lipids have a lot of diversity) (both for protein and lipid species)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Functional characterization not trivial (transient interaction)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554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609B1-0695-3B27-BF9A-1B6E59BE9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318EDE54-8EC6-0CC4-B4AB-57A3FD81D3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8B7ECB-6381-5F8D-82EC-A53D6EAE8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E5473-3D77-DFA4-E1BF-049AEA33E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advantage  the dataset 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Extrapolate on lipid-protein interaction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2D9D0-D6B2-FD12-6D8D-EAD696F34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ED85EF-A94A-3345-60CC-CFD12C3D2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704" y="1870075"/>
            <a:ext cx="6242844" cy="240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1A2D2527-10A0-75CA-8526-2039055F8D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7DE195-A325-84C4-D928-4704A86EC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59EBE-E294-CC34-3C9C-DD3992BBF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65"/>
          </a:xfrm>
        </p:spPr>
        <p:txBody>
          <a:bodyPr/>
          <a:lstStyle/>
          <a:p>
            <a:r>
              <a:rPr lang="en-US" dirty="0"/>
              <a:t>Mass spectrometry</a:t>
            </a:r>
          </a:p>
          <a:p>
            <a:pPr marL="0" indent="0">
              <a:buNone/>
            </a:pPr>
            <a:r>
              <a:rPr lang="en-US" dirty="0"/>
              <a:t>	- for one expressed protein, which lipid is transported</a:t>
            </a:r>
          </a:p>
          <a:p>
            <a:pPr marL="0" indent="0">
              <a:buNone/>
            </a:pPr>
            <a:r>
              <a:rPr lang="en-US" dirty="0"/>
              <a:t>	- information ABOUT the structure, but not complete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Ex :</a:t>
            </a:r>
            <a:r>
              <a:rPr lang="en-US" dirty="0"/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Phosphatidylethanolamine (36:2) =&gt; (18:1/18:1)</a:t>
            </a:r>
            <a:endParaRPr lang="en-US" u="sng" dirty="0"/>
          </a:p>
          <a:p>
            <a:endParaRPr lang="en-US" dirty="0"/>
          </a:p>
          <a:p>
            <a:r>
              <a:rPr lang="en-US" dirty="0"/>
              <a:t>PDB</a:t>
            </a:r>
          </a:p>
          <a:p>
            <a:pPr marL="0" indent="0">
              <a:buNone/>
            </a:pPr>
            <a:r>
              <a:rPr lang="en-US" dirty="0"/>
              <a:t>	- Can recover structures with gene name</a:t>
            </a:r>
          </a:p>
          <a:p>
            <a:pPr marL="0" indent="0">
              <a:buNone/>
            </a:pPr>
            <a:r>
              <a:rPr lang="en-US" dirty="0"/>
              <a:t>	- AFDB otherwise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C27A7-2FEB-94B0-E961-76122617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62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20957-84DA-19A0-6C00-6AA4E05E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E63BB-D5B9-CBC3-BA07-76A06738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73AF2-6BCA-DEA7-0C2D-9C23628D7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59568-0CC1-112B-0D6E-D615E490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D2C67E-4A56-4569-EADA-F6A2539CE586}"/>
              </a:ext>
            </a:extLst>
          </p:cNvPr>
          <p:cNvSpPr>
            <a:spLocks/>
          </p:cNvSpPr>
          <p:nvPr/>
        </p:nvSpPr>
        <p:spPr>
          <a:xfrm>
            <a:off x="-149087" y="-139148"/>
            <a:ext cx="12483548" cy="7166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D4A1AC-3D6E-076B-4BB2-BB7633EB6E8F}"/>
              </a:ext>
            </a:extLst>
          </p:cNvPr>
          <p:cNvSpPr txBox="1">
            <a:spLocks/>
          </p:cNvSpPr>
          <p:nvPr/>
        </p:nvSpPr>
        <p:spPr>
          <a:xfrm>
            <a:off x="1814512" y="-13526"/>
            <a:ext cx="7443788" cy="6945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Outliers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0B0D7B-45DD-4E04-1572-429A1212A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25" y="1547433"/>
            <a:ext cx="3877614" cy="386794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2F65743-A96A-7B3A-0441-DC7574C4F139}"/>
              </a:ext>
            </a:extLst>
          </p:cNvPr>
          <p:cNvSpPr txBox="1">
            <a:spLocks/>
          </p:cNvSpPr>
          <p:nvPr/>
        </p:nvSpPr>
        <p:spPr>
          <a:xfrm>
            <a:off x="-1233488" y="852869"/>
            <a:ext cx="7443788" cy="6174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TTPA (a-tocopherol)</a:t>
            </a: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r>
              <a:rPr lang="en-US" sz="4000" dirty="0">
                <a:solidFill>
                  <a:schemeClr val="bg1"/>
                </a:solidFill>
              </a:rPr>
              <a:t>24-mer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4D9009B-0CE2-0919-3182-0F03A6C881EF}"/>
              </a:ext>
            </a:extLst>
          </p:cNvPr>
          <p:cNvSpPr txBox="1">
            <a:spLocks/>
          </p:cNvSpPr>
          <p:nvPr/>
        </p:nvSpPr>
        <p:spPr>
          <a:xfrm>
            <a:off x="5381004" y="852869"/>
            <a:ext cx="7443788" cy="6174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BPI</a:t>
            </a: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r>
              <a:rPr lang="en-US" sz="4000" dirty="0">
                <a:solidFill>
                  <a:schemeClr val="bg1"/>
                </a:solidFill>
              </a:rPr>
              <a:t>Not box-like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B622DE-9F1F-E9C3-64B0-1D4111AA5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587" y="1646238"/>
            <a:ext cx="4004277" cy="381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674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86670-C291-0AF8-DFEA-350B2513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771E-AAF5-897B-5860-451BCAE2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4599C-848C-490F-4BCA-D5C3BF074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6F788-8AEC-8E32-9A82-E2CBE5DB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6BA8B0-BAEC-1EFC-5E4D-6EE644DD91D4}"/>
              </a:ext>
            </a:extLst>
          </p:cNvPr>
          <p:cNvSpPr>
            <a:spLocks/>
          </p:cNvSpPr>
          <p:nvPr/>
        </p:nvSpPr>
        <p:spPr>
          <a:xfrm>
            <a:off x="-149087" y="-139148"/>
            <a:ext cx="12483548" cy="7166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D910AD-5E1F-4812-A458-11C4FF132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4" y="-93085"/>
            <a:ext cx="8048625" cy="695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08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872E54A4-7AB9-4BE7-32DA-7C7B564AA3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F2F5E7-463E-EFB9-8AB4-954FC5CC8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E0F1-1F3D-809D-F248-5C4733505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Encoding</a:t>
            </a:r>
          </a:p>
          <a:p>
            <a:pPr lvl="1">
              <a:buFontTx/>
              <a:buChar char="-"/>
            </a:pPr>
            <a:r>
              <a:rPr lang="en-US" dirty="0"/>
              <a:t>Language Model</a:t>
            </a:r>
          </a:p>
          <a:p>
            <a:pPr lvl="1">
              <a:buFontTx/>
              <a:buChar char="-"/>
            </a:pPr>
            <a:r>
              <a:rPr lang="en-US" dirty="0"/>
              <a:t>Graph</a:t>
            </a:r>
          </a:p>
          <a:p>
            <a:endParaRPr lang="en-US" dirty="0"/>
          </a:p>
          <a:p>
            <a:r>
              <a:rPr lang="en-US" dirty="0"/>
              <a:t>Interaction</a:t>
            </a:r>
          </a:p>
          <a:p>
            <a:pPr lvl="1">
              <a:buFontTx/>
              <a:buChar char="-"/>
            </a:pPr>
            <a:r>
              <a:rPr lang="en-US" dirty="0"/>
              <a:t>Attention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2D9B6-E757-39AE-8112-F11EE7C2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05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CA76E7C4-27BA-0AC9-043C-B239C4587B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D7C12F-AF13-5D35-4546-4B9AB385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Graph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F1361-C9F5-A7A4-2ED2-859A550BC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What Are Graph Neural Networks? | NVIDIA Blogs">
            <a:extLst>
              <a:ext uri="{FF2B5EF4-FFF2-40B4-BE49-F238E27FC236}">
                <a16:creationId xmlns:a16="http://schemas.microsoft.com/office/drawing/2014/main" id="{6DF21448-FB32-E941-1AC3-8AC832F58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515600" cy="3914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95124-040E-A956-3E5B-319BE8C7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03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8DC4E97C-84C5-6391-6A7D-0F26C29A41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8A9F00-A605-FFB4-69AE-FBBF1222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EED42-04E5-53F1-E079-6C93A3A80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Figure 2">
            <a:extLst>
              <a:ext uri="{FF2B5EF4-FFF2-40B4-BE49-F238E27FC236}">
                <a16:creationId xmlns:a16="http://schemas.microsoft.com/office/drawing/2014/main" id="{2F13F944-D7B6-C334-9874-038A84698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814" y="1660871"/>
            <a:ext cx="7650370" cy="42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E2193-9B29-35B1-CC3D-CEB18834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4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C2299C3E-8C82-24BA-28F5-39C26C8322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3B0383-CA82-C7FF-5B9C-CA900704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Transformer (Attention)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B1CDC-CBD5-0A38-CB39-85C2C49A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2" descr="Attention Mechanism in Deep Learning- Scaler Topics">
            <a:extLst>
              <a:ext uri="{FF2B5EF4-FFF2-40B4-BE49-F238E27FC236}">
                <a16:creationId xmlns:a16="http://schemas.microsoft.com/office/drawing/2014/main" id="{529B9348-EEB3-4407-A399-6A755B0176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6" t="12677" r="6875" b="26648"/>
          <a:stretch/>
        </p:blipFill>
        <p:spPr bwMode="auto">
          <a:xfrm>
            <a:off x="743777" y="1690688"/>
            <a:ext cx="10704444" cy="410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26BAC-B834-2CDE-8913-AA93B8D0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04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CA76E7C4-27BA-0AC9-043C-B239C4587B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D7C12F-AF13-5D35-4546-4B9AB385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Equivariant GNN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F1361-C9F5-A7A4-2ED2-859A550BC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Necessity for the same input to have the same profile in the network</a:t>
            </a:r>
          </a:p>
          <a:p>
            <a:endParaRPr lang="en-US" dirty="0"/>
          </a:p>
          <a:p>
            <a:r>
              <a:rPr lang="en-US" dirty="0"/>
              <a:t>Similar structure = similar embedding</a:t>
            </a:r>
          </a:p>
          <a:p>
            <a:endParaRPr lang="en-US" dirty="0"/>
          </a:p>
          <a:p>
            <a:r>
              <a:rPr lang="en-US" dirty="0"/>
              <a:t>No effect from translations and rotations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0FA2E-5CBE-D075-8F05-E1F3C6A8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51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CA76E7C4-27BA-0AC9-043C-B239C4587B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D7C12F-AF13-5D35-4546-4B9AB385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Equivariant GNN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88DD1F-0ABD-87C5-BA10-3FA1CB1E9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 descr="Equivariant quantum circuits for learning on weighted graphs | npj Quantum  Information">
            <a:extLst>
              <a:ext uri="{FF2B5EF4-FFF2-40B4-BE49-F238E27FC236}">
                <a16:creationId xmlns:a16="http://schemas.microsoft.com/office/drawing/2014/main" id="{6A32B41E-C75B-EB07-7887-B78842AB9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747" y="1690688"/>
            <a:ext cx="9170504" cy="445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A688E6-23D3-F042-306A-1EC17DDD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52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CA76E7C4-27BA-0AC9-043C-B239C4587B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D7C12F-AF13-5D35-4546-4B9AB385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Equivariant GNN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88DD1F-0ABD-87C5-BA10-3FA1CB1E9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 descr="T036 · An introduction to E(3)-invariant graph neural networks —  TeachOpenCADD 0 documentation">
            <a:extLst>
              <a:ext uri="{FF2B5EF4-FFF2-40B4-BE49-F238E27FC236}">
                <a16:creationId xmlns:a16="http://schemas.microsoft.com/office/drawing/2014/main" id="{63566B0A-9DFC-23CC-4E09-5DA45ADE5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608" y="1428060"/>
            <a:ext cx="6082784" cy="4933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6AC04F-6DAF-36F7-6D34-77910C5B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69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8DC4E97C-84C5-6391-6A7D-0F26C29A41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8A9F00-A605-FFB4-69AE-FBBF1222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Chemical 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EED42-04E5-53F1-E079-6C93A3A80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language model trained on large amount of small molecules</a:t>
            </a:r>
          </a:p>
          <a:p>
            <a:endParaRPr lang="en-US" dirty="0"/>
          </a:p>
          <a:p>
            <a:r>
              <a:rPr lang="en-US" dirty="0"/>
              <a:t>Lipids very similar in composition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CAB39-FB78-646D-4965-67035D83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87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8DC4E97C-84C5-6391-6A7D-0F26C29A41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8A9F00-A605-FFB4-69AE-FBBF1222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Chemical 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EED42-04E5-53F1-E079-6C93A3A80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BB8FE-2137-134E-3287-E4573F621B81}"/>
              </a:ext>
            </a:extLst>
          </p:cNvPr>
          <p:cNvSpPr txBox="1"/>
          <p:nvPr/>
        </p:nvSpPr>
        <p:spPr>
          <a:xfrm>
            <a:off x="-1" y="5316865"/>
            <a:ext cx="35648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effectLst/>
                <a:latin typeface="ff5"/>
              </a:rPr>
              <a:t>Large-scale chemical language representations capture molecular structure and properties, </a:t>
            </a:r>
            <a:r>
              <a:rPr lang="en-US" b="0" i="0" u="none" strike="noStrike" dirty="0" err="1">
                <a:effectLst/>
                <a:latin typeface="ff5"/>
              </a:rPr>
              <a:t>Jerret</a:t>
            </a:r>
            <a:r>
              <a:rPr lang="en-US" b="0" i="0" u="none" strike="noStrike" dirty="0">
                <a:effectLst/>
                <a:latin typeface="ff5"/>
              </a:rPr>
              <a:t> Ross et al., Nature Machine Intelligence, 2022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4771F3-07E8-5E8D-E844-1F5BE5996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1420"/>
            <a:ext cx="10503912" cy="3010508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9926491-4C74-9565-C42C-2317D42E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50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C2299C3E-8C82-24BA-28F5-39C26C8322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3B0383-CA82-C7FF-5B9C-CA900704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Self and Cross-Attention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B1CDC-CBD5-0A38-CB39-85C2C49A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“Attend” to which tokens of the protein and lipid contribute to the interaction</a:t>
            </a:r>
          </a:p>
          <a:p>
            <a:endParaRPr lang="en-US" dirty="0"/>
          </a:p>
          <a:p>
            <a:r>
              <a:rPr lang="en-US" dirty="0"/>
              <a:t>Combining these profiles give a more complete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62F47-C497-A01D-2889-69CDA5566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39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C2299C3E-8C82-24BA-28F5-39C26C8322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3B0383-CA82-C7FF-5B9C-CA900704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Transformer (Attention)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B1CDC-CBD5-0A38-CB39-85C2C49A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F5E538-9B54-78D8-354E-11534DA0D96A}"/>
              </a:ext>
            </a:extLst>
          </p:cNvPr>
          <p:cNvSpPr txBox="1">
            <a:spLocks/>
          </p:cNvSpPr>
          <p:nvPr/>
        </p:nvSpPr>
        <p:spPr>
          <a:xfrm>
            <a:off x="80388" y="4853354"/>
            <a:ext cx="2934118" cy="1879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NimbusRomNo9L"/>
              </a:rPr>
              <a:t>End-to-end accurate and high-throughput modeling of antibody-antigen complexes, Tomer Cohen, Dina Schneidman-Duhovny, NeurIPS 2022 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BF0418-EAE4-7C7F-5994-AA52BDFD1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350" y="1429548"/>
            <a:ext cx="5993297" cy="492502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05470-C258-8351-3B33-153B5272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59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81AB7CC5-8B83-23CB-C5C2-FC560EB29D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0BE446-09FF-1257-185A-E69BB5A0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Graph pooling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D028-52B9-63BC-4131-EFAB05070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5E466-9CA9-3A2D-0161-9089487D2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8E455C-024A-AAB5-8718-8587E76E4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7527"/>
            <a:ext cx="10526222" cy="250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568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oup of blue balls&#10;&#10;Description automatically generated">
            <a:extLst>
              <a:ext uri="{FF2B5EF4-FFF2-40B4-BE49-F238E27FC236}">
                <a16:creationId xmlns:a16="http://schemas.microsoft.com/office/drawing/2014/main" id="{81AB7CC5-8B83-23CB-C5C2-FC560EB29D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0BE446-09FF-1257-185A-E69BB5A0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r>
              <a:rPr lang="en-US" b="1" dirty="0"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Main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D028-52B9-63BC-4131-EFAB05070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Model for Protein Structures</a:t>
            </a:r>
          </a:p>
          <a:p>
            <a:r>
              <a:rPr lang="en-US" dirty="0"/>
              <a:t>Language Model for Lipid Composition</a:t>
            </a:r>
          </a:p>
          <a:p>
            <a:r>
              <a:rPr lang="en-US" dirty="0"/>
              <a:t>Transformer for Interaction</a:t>
            </a:r>
          </a:p>
          <a:p>
            <a:endParaRPr lang="en-US" dirty="0"/>
          </a:p>
          <a:p>
            <a:r>
              <a:rPr lang="en-US" dirty="0"/>
              <a:t>Need to work on EGNN, Pooling, Combination of the two tracks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5E466-9CA9-3A2D-0161-9089487D2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89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4E3B6C6-9762-0472-A3EF-080736FB2082}"/>
              </a:ext>
            </a:extLst>
          </p:cNvPr>
          <p:cNvCxnSpPr>
            <a:cxnSpLocks/>
          </p:cNvCxnSpPr>
          <p:nvPr/>
        </p:nvCxnSpPr>
        <p:spPr>
          <a:xfrm>
            <a:off x="5536367" y="3530181"/>
            <a:ext cx="1771339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FFACD52-2F3E-6DEB-901D-20762632E6F7}"/>
              </a:ext>
            </a:extLst>
          </p:cNvPr>
          <p:cNvCxnSpPr/>
          <p:nvPr/>
        </p:nvCxnSpPr>
        <p:spPr>
          <a:xfrm>
            <a:off x="3117952" y="4538271"/>
            <a:ext cx="3357797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E20265-C048-63FF-D83F-617B9827831F}"/>
              </a:ext>
            </a:extLst>
          </p:cNvPr>
          <p:cNvCxnSpPr/>
          <p:nvPr/>
        </p:nvCxnSpPr>
        <p:spPr>
          <a:xfrm>
            <a:off x="2593296" y="2197306"/>
            <a:ext cx="3357797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55BB693-AEF3-E4CF-24C4-6C015FCC1B4B}"/>
              </a:ext>
            </a:extLst>
          </p:cNvPr>
          <p:cNvSpPr/>
          <p:nvPr/>
        </p:nvSpPr>
        <p:spPr>
          <a:xfrm>
            <a:off x="2203551" y="1582711"/>
            <a:ext cx="1244183" cy="1244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Lipid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91F0DB-110E-AAAA-AE51-A31949924B6F}"/>
              </a:ext>
            </a:extLst>
          </p:cNvPr>
          <p:cNvSpPr/>
          <p:nvPr/>
        </p:nvSpPr>
        <p:spPr>
          <a:xfrm>
            <a:off x="3028010" y="3908687"/>
            <a:ext cx="1244183" cy="1244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Protein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0397AF-E4D6-6FFF-2CEB-B66EDF3034A2}"/>
              </a:ext>
            </a:extLst>
          </p:cNvPr>
          <p:cNvSpPr/>
          <p:nvPr/>
        </p:nvSpPr>
        <p:spPr>
          <a:xfrm>
            <a:off x="3675086" y="1582710"/>
            <a:ext cx="597108" cy="124418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LM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768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C3DCAB-9E7A-B42C-5E69-3C5EA4E9187D}"/>
              </a:ext>
            </a:extLst>
          </p:cNvPr>
          <p:cNvSpPr/>
          <p:nvPr/>
        </p:nvSpPr>
        <p:spPr>
          <a:xfrm>
            <a:off x="4499545" y="3908687"/>
            <a:ext cx="597108" cy="124418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GNN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Hid</a:t>
            </a: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A1C5DBC9-BAE8-E321-7C6C-A50634D31D67}"/>
              </a:ext>
            </a:extLst>
          </p:cNvPr>
          <p:cNvSpPr/>
          <p:nvPr/>
        </p:nvSpPr>
        <p:spPr>
          <a:xfrm rot="5400000">
            <a:off x="4176008" y="1906248"/>
            <a:ext cx="1244183" cy="597106"/>
          </a:xfrm>
          <a:prstGeom prst="trapezoi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err="1"/>
              <a:t>Proj</a:t>
            </a:r>
            <a:endParaRPr lang="en-US" dirty="0"/>
          </a:p>
          <a:p>
            <a:pPr algn="ctr"/>
            <a:r>
              <a:rPr lang="en-US" dirty="0"/>
              <a:t>Hid</a:t>
            </a: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E356299F-4288-981A-AFB7-E9C686EA19C3}"/>
              </a:ext>
            </a:extLst>
          </p:cNvPr>
          <p:cNvSpPr/>
          <p:nvPr/>
        </p:nvSpPr>
        <p:spPr>
          <a:xfrm rot="5400000">
            <a:off x="4327159" y="3004280"/>
            <a:ext cx="3357798" cy="939381"/>
          </a:xfrm>
          <a:prstGeom prst="trapezoid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err="1"/>
              <a:t>Att</a:t>
            </a:r>
            <a:endParaRPr lang="en-US" dirty="0"/>
          </a:p>
          <a:p>
            <a:pPr algn="ctr"/>
            <a:r>
              <a:rPr lang="en-US" dirty="0"/>
              <a:t>Hid</a:t>
            </a:r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1FE7739A-92F6-0CD2-FD36-08BD0D35C6E3}"/>
              </a:ext>
            </a:extLst>
          </p:cNvPr>
          <p:cNvSpPr/>
          <p:nvPr/>
        </p:nvSpPr>
        <p:spPr>
          <a:xfrm rot="5400000">
            <a:off x="6293374" y="3202900"/>
            <a:ext cx="2206053" cy="729518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D6B663-959E-6362-AE97-0C2AC25A08D6}"/>
              </a:ext>
            </a:extLst>
          </p:cNvPr>
          <p:cNvSpPr txBox="1"/>
          <p:nvPr/>
        </p:nvSpPr>
        <p:spPr>
          <a:xfrm>
            <a:off x="7841110" y="3382993"/>
            <a:ext cx="120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9526F1-90BB-3290-071A-69C015BCDE56}"/>
              </a:ext>
            </a:extLst>
          </p:cNvPr>
          <p:cNvSpPr txBox="1"/>
          <p:nvPr/>
        </p:nvSpPr>
        <p:spPr>
          <a:xfrm>
            <a:off x="7009153" y="3345515"/>
            <a:ext cx="120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Proj</a:t>
            </a:r>
            <a:r>
              <a:rPr lang="en-US" dirty="0">
                <a:solidFill>
                  <a:schemeClr val="bg1"/>
                </a:solidFill>
              </a:rPr>
              <a:t>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4C683B-70D6-8A4A-3667-5E633BFCA96E}"/>
              </a:ext>
            </a:extLst>
          </p:cNvPr>
          <p:cNvSpPr txBox="1"/>
          <p:nvPr/>
        </p:nvSpPr>
        <p:spPr>
          <a:xfrm>
            <a:off x="9041503" y="3259881"/>
            <a:ext cx="2158001" cy="64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Loss function is not converging</a:t>
            </a:r>
            <a:endParaRPr lang="en-US" sz="3600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A99787-390A-9A05-412D-5942ABC33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339" y="-4874"/>
            <a:ext cx="12350345" cy="6998527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DDA7BF2-362D-7C99-A348-18AEEFD1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22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C4F72E-8F5B-870D-791D-A9A98FC93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Initial Designs</a:t>
            </a:r>
          </a:p>
        </p:txBody>
      </p:sp>
    </p:spTree>
    <p:extLst>
      <p:ext uri="{BB962C8B-B14F-4D97-AF65-F5344CB8AC3E}">
        <p14:creationId xmlns:p14="http://schemas.microsoft.com/office/powerpoint/2010/main" val="3446278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7D7E5B7-0BDB-5FE0-7B2B-5BD33B549C8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358991" y="2405123"/>
            <a:ext cx="1694296" cy="7498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688BC07-F59D-B82B-4938-4923B644DE4B}"/>
              </a:ext>
            </a:extLst>
          </p:cNvPr>
          <p:cNvCxnSpPr>
            <a:cxnSpLocks/>
          </p:cNvCxnSpPr>
          <p:nvPr/>
        </p:nvCxnSpPr>
        <p:spPr>
          <a:xfrm>
            <a:off x="603765" y="4746413"/>
            <a:ext cx="1576756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3F3D970-C2D8-123E-6796-B690B07EF759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2201315" y="745710"/>
            <a:ext cx="1038367" cy="1473019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DAE566C-ED07-7308-A53C-C12CF704099F}"/>
              </a:ext>
            </a:extLst>
          </p:cNvPr>
          <p:cNvCxnSpPr>
            <a:cxnSpLocks/>
            <a:stCxn id="83" idx="4"/>
          </p:cNvCxnSpPr>
          <p:nvPr/>
        </p:nvCxnSpPr>
        <p:spPr>
          <a:xfrm flipH="1">
            <a:off x="2353423" y="4924520"/>
            <a:ext cx="13493" cy="1061878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EB04ED9-6573-77DF-5B85-B7DA355D1F87}"/>
              </a:ext>
            </a:extLst>
          </p:cNvPr>
          <p:cNvSpPr/>
          <p:nvPr/>
        </p:nvSpPr>
        <p:spPr>
          <a:xfrm>
            <a:off x="3633995" y="335637"/>
            <a:ext cx="4899795" cy="586375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Transformer Block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2408615-5D84-24C0-8B39-D201B107AA34}"/>
              </a:ext>
            </a:extLst>
          </p:cNvPr>
          <p:cNvCxnSpPr>
            <a:cxnSpLocks/>
          </p:cNvCxnSpPr>
          <p:nvPr/>
        </p:nvCxnSpPr>
        <p:spPr>
          <a:xfrm flipV="1">
            <a:off x="6614437" y="2181166"/>
            <a:ext cx="492536" cy="472939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D51809A-6D3A-AFF4-805D-C3FE10332992}"/>
              </a:ext>
            </a:extLst>
          </p:cNvPr>
          <p:cNvCxnSpPr>
            <a:cxnSpLocks/>
          </p:cNvCxnSpPr>
          <p:nvPr/>
        </p:nvCxnSpPr>
        <p:spPr>
          <a:xfrm>
            <a:off x="6649327" y="1512078"/>
            <a:ext cx="462476" cy="407836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D69447C-81AB-2B31-D205-238B567771B9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7393896" y="2037249"/>
            <a:ext cx="1960479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922A250-16C6-E206-DF8B-0CDEF79F9EB4}"/>
              </a:ext>
            </a:extLst>
          </p:cNvPr>
          <p:cNvCxnSpPr>
            <a:cxnSpLocks/>
          </p:cNvCxnSpPr>
          <p:nvPr/>
        </p:nvCxnSpPr>
        <p:spPr>
          <a:xfrm flipV="1">
            <a:off x="6600886" y="5049994"/>
            <a:ext cx="492536" cy="472939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E14D6AB-DCA6-1409-73CF-03F9CB95A78B}"/>
              </a:ext>
            </a:extLst>
          </p:cNvPr>
          <p:cNvCxnSpPr>
            <a:cxnSpLocks/>
          </p:cNvCxnSpPr>
          <p:nvPr/>
        </p:nvCxnSpPr>
        <p:spPr>
          <a:xfrm>
            <a:off x="6635776" y="4380906"/>
            <a:ext cx="462476" cy="407836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E6CB747-40DF-F068-3433-32E9B3B15DA2}"/>
              </a:ext>
            </a:extLst>
          </p:cNvPr>
          <p:cNvCxnSpPr>
            <a:cxnSpLocks/>
          </p:cNvCxnSpPr>
          <p:nvPr/>
        </p:nvCxnSpPr>
        <p:spPr>
          <a:xfrm>
            <a:off x="7380345" y="4906077"/>
            <a:ext cx="2157029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6783338-752F-F3FD-CB70-FE49390F4261}"/>
              </a:ext>
            </a:extLst>
          </p:cNvPr>
          <p:cNvCxnSpPr>
            <a:cxnSpLocks/>
          </p:cNvCxnSpPr>
          <p:nvPr/>
        </p:nvCxnSpPr>
        <p:spPr>
          <a:xfrm>
            <a:off x="4835683" y="2405124"/>
            <a:ext cx="1008668" cy="309715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0DD0575-CA23-ECF6-D0D8-54FE7F2DD4D7}"/>
              </a:ext>
            </a:extLst>
          </p:cNvPr>
          <p:cNvCxnSpPr>
            <a:cxnSpLocks/>
          </p:cNvCxnSpPr>
          <p:nvPr/>
        </p:nvCxnSpPr>
        <p:spPr>
          <a:xfrm>
            <a:off x="4835683" y="2415231"/>
            <a:ext cx="1008668" cy="1924938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D4C024D-D2E6-BB6C-62C5-6C69D1C6C06B}"/>
              </a:ext>
            </a:extLst>
          </p:cNvPr>
          <p:cNvCxnSpPr>
            <a:cxnSpLocks/>
          </p:cNvCxnSpPr>
          <p:nvPr/>
        </p:nvCxnSpPr>
        <p:spPr>
          <a:xfrm flipV="1">
            <a:off x="4835683" y="1470655"/>
            <a:ext cx="1008668" cy="944576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6A7FBBF-5F53-430E-9804-D4CF5B91E5D3}"/>
              </a:ext>
            </a:extLst>
          </p:cNvPr>
          <p:cNvCxnSpPr>
            <a:cxnSpLocks/>
          </p:cNvCxnSpPr>
          <p:nvPr/>
        </p:nvCxnSpPr>
        <p:spPr>
          <a:xfrm flipV="1">
            <a:off x="4923184" y="2727609"/>
            <a:ext cx="945670" cy="201848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D5AE7EF-5C91-3E76-3F7D-5342E6C783A3}"/>
              </a:ext>
            </a:extLst>
          </p:cNvPr>
          <p:cNvCxnSpPr>
            <a:cxnSpLocks/>
          </p:cNvCxnSpPr>
          <p:nvPr/>
        </p:nvCxnSpPr>
        <p:spPr>
          <a:xfrm flipV="1">
            <a:off x="4898694" y="4352939"/>
            <a:ext cx="970160" cy="403256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F3B3E0B-1E12-25EE-DE0B-AD2F5B9E2A04}"/>
              </a:ext>
            </a:extLst>
          </p:cNvPr>
          <p:cNvCxnSpPr>
            <a:cxnSpLocks/>
          </p:cNvCxnSpPr>
          <p:nvPr/>
        </p:nvCxnSpPr>
        <p:spPr>
          <a:xfrm>
            <a:off x="4908370" y="4756195"/>
            <a:ext cx="960484" cy="794034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4E3B6C6-9762-0472-A3EF-080736FB2082}"/>
              </a:ext>
            </a:extLst>
          </p:cNvPr>
          <p:cNvCxnSpPr>
            <a:cxnSpLocks/>
          </p:cNvCxnSpPr>
          <p:nvPr/>
        </p:nvCxnSpPr>
        <p:spPr>
          <a:xfrm>
            <a:off x="9537374" y="4887042"/>
            <a:ext cx="721863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FFACD52-2F3E-6DEB-901D-20762632E6F7}"/>
              </a:ext>
            </a:extLst>
          </p:cNvPr>
          <p:cNvCxnSpPr>
            <a:cxnSpLocks/>
            <a:stCxn id="83" idx="6"/>
          </p:cNvCxnSpPr>
          <p:nvPr/>
        </p:nvCxnSpPr>
        <p:spPr>
          <a:xfrm>
            <a:off x="2553310" y="4738126"/>
            <a:ext cx="2449522" cy="7963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E20265-C048-63FF-D83F-617B9827831F}"/>
              </a:ext>
            </a:extLst>
          </p:cNvPr>
          <p:cNvCxnSpPr>
            <a:cxnSpLocks/>
            <a:stCxn id="82" idx="6"/>
          </p:cNvCxnSpPr>
          <p:nvPr/>
        </p:nvCxnSpPr>
        <p:spPr>
          <a:xfrm>
            <a:off x="3426076" y="2405124"/>
            <a:ext cx="1576756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55BB693-AEF3-E4CF-24C4-6C015FCC1B4B}"/>
              </a:ext>
            </a:extLst>
          </p:cNvPr>
          <p:cNvSpPr/>
          <p:nvPr/>
        </p:nvSpPr>
        <p:spPr>
          <a:xfrm>
            <a:off x="114808" y="1790529"/>
            <a:ext cx="1244183" cy="1244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Lipid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91F0DB-110E-AAAA-AE51-A31949924B6F}"/>
              </a:ext>
            </a:extLst>
          </p:cNvPr>
          <p:cNvSpPr/>
          <p:nvPr/>
        </p:nvSpPr>
        <p:spPr>
          <a:xfrm>
            <a:off x="588590" y="4116505"/>
            <a:ext cx="1244183" cy="1244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Protein</a:t>
            </a: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0397AF-E4D6-6FFF-2CEB-B66EDF3034A2}"/>
              </a:ext>
            </a:extLst>
          </p:cNvPr>
          <p:cNvSpPr/>
          <p:nvPr/>
        </p:nvSpPr>
        <p:spPr>
          <a:xfrm>
            <a:off x="1510374" y="1790530"/>
            <a:ext cx="597108" cy="124418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LM</a:t>
            </a:r>
          </a:p>
          <a:p>
            <a:pPr algn="ctr"/>
            <a:r>
              <a:rPr lang="en-US" i="1" dirty="0">
                <a:solidFill>
                  <a:schemeClr val="bg1"/>
                </a:solidFill>
              </a:rPr>
              <a:t>768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C3DCAB-9E7A-B42C-5E69-3C5EA4E9187D}"/>
              </a:ext>
            </a:extLst>
          </p:cNvPr>
          <p:cNvSpPr/>
          <p:nvPr/>
        </p:nvSpPr>
        <p:spPr>
          <a:xfrm>
            <a:off x="3848677" y="4123999"/>
            <a:ext cx="597108" cy="12441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GNN</a:t>
            </a:r>
          </a:p>
          <a:p>
            <a:pPr algn="ctr"/>
            <a:r>
              <a:rPr lang="en-US" sz="1400" i="1" dirty="0" err="1">
                <a:solidFill>
                  <a:schemeClr val="bg1"/>
                </a:solidFill>
              </a:rPr>
              <a:t>prot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A1C5DBC9-BAE8-E321-7C6C-A50634D31D67}"/>
              </a:ext>
            </a:extLst>
          </p:cNvPr>
          <p:cNvSpPr/>
          <p:nvPr/>
        </p:nvSpPr>
        <p:spPr>
          <a:xfrm rot="5400000">
            <a:off x="1890656" y="2114069"/>
            <a:ext cx="1244183" cy="597106"/>
          </a:xfrm>
          <a:prstGeom prst="trapezoi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err="1"/>
              <a:t>Proj</a:t>
            </a:r>
            <a:endParaRPr lang="en-US" dirty="0"/>
          </a:p>
          <a:p>
            <a:pPr algn="ctr"/>
            <a:r>
              <a:rPr lang="en-US" i="1" dirty="0"/>
              <a:t>lip</a:t>
            </a:r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1FE7739A-92F6-0CD2-FD36-08BD0D35C6E3}"/>
              </a:ext>
            </a:extLst>
          </p:cNvPr>
          <p:cNvSpPr/>
          <p:nvPr/>
        </p:nvSpPr>
        <p:spPr>
          <a:xfrm rot="5400000">
            <a:off x="9530205" y="4522283"/>
            <a:ext cx="2206053" cy="729518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D6B663-959E-6362-AE97-0C2AC25A08D6}"/>
              </a:ext>
            </a:extLst>
          </p:cNvPr>
          <p:cNvSpPr txBox="1"/>
          <p:nvPr/>
        </p:nvSpPr>
        <p:spPr>
          <a:xfrm>
            <a:off x="11077941" y="4703498"/>
            <a:ext cx="120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9526F1-90BB-3290-071A-69C015BCDE56}"/>
              </a:ext>
            </a:extLst>
          </p:cNvPr>
          <p:cNvSpPr txBox="1"/>
          <p:nvPr/>
        </p:nvSpPr>
        <p:spPr>
          <a:xfrm>
            <a:off x="10245984" y="4664898"/>
            <a:ext cx="1200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Proj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i="1" dirty="0">
                <a:solidFill>
                  <a:schemeClr val="bg1"/>
                </a:solidFill>
              </a:rPr>
              <a:t>   2</a:t>
            </a:r>
          </a:p>
        </p:txBody>
      </p:sp>
      <p:sp>
        <p:nvSpPr>
          <p:cNvPr id="2" name="Trapezoid 1">
            <a:extLst>
              <a:ext uri="{FF2B5EF4-FFF2-40B4-BE49-F238E27FC236}">
                <a16:creationId xmlns:a16="http://schemas.microsoft.com/office/drawing/2014/main" id="{5BB63278-E7ED-8F02-E9B6-4FC0FB1BB829}"/>
              </a:ext>
            </a:extLst>
          </p:cNvPr>
          <p:cNvSpPr/>
          <p:nvPr/>
        </p:nvSpPr>
        <p:spPr>
          <a:xfrm rot="5400000">
            <a:off x="2586894" y="4447537"/>
            <a:ext cx="1244183" cy="597106"/>
          </a:xfrm>
          <a:prstGeom prst="trapezoi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err="1"/>
              <a:t>Proj</a:t>
            </a:r>
            <a:endParaRPr lang="en-US" dirty="0"/>
          </a:p>
          <a:p>
            <a:pPr algn="ctr"/>
            <a:r>
              <a:rPr lang="en-US" i="1" dirty="0" err="1"/>
              <a:t>prot</a:t>
            </a:r>
            <a:endParaRPr lang="en-US" i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6AFE1E-94A7-FB9A-AF02-E905B75B01AF}"/>
              </a:ext>
            </a:extLst>
          </p:cNvPr>
          <p:cNvSpPr/>
          <p:nvPr/>
        </p:nvSpPr>
        <p:spPr>
          <a:xfrm>
            <a:off x="3805090" y="1790530"/>
            <a:ext cx="597108" cy="12441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MLP</a:t>
            </a:r>
          </a:p>
          <a:p>
            <a:pPr algn="ctr"/>
            <a:r>
              <a:rPr lang="en-US" sz="1400" i="1" dirty="0">
                <a:solidFill>
                  <a:schemeClr val="bg1"/>
                </a:solidFill>
              </a:rPr>
              <a:t>lip</a:t>
            </a:r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85C3A301-3858-14A6-7577-C4CC2E520444}"/>
              </a:ext>
            </a:extLst>
          </p:cNvPr>
          <p:cNvSpPr/>
          <p:nvPr/>
        </p:nvSpPr>
        <p:spPr>
          <a:xfrm rot="5400000">
            <a:off x="4258190" y="2106572"/>
            <a:ext cx="1244183" cy="597106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</a:t>
            </a:r>
            <a:endParaRPr lang="en-US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BC61D4FF-66CD-3AB6-5D8D-3E725CF145BC}"/>
              </a:ext>
            </a:extLst>
          </p:cNvPr>
          <p:cNvSpPr/>
          <p:nvPr/>
        </p:nvSpPr>
        <p:spPr>
          <a:xfrm rot="5400000">
            <a:off x="4258191" y="4440044"/>
            <a:ext cx="1244183" cy="597106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</a:t>
            </a:r>
            <a:endParaRPr lang="en-US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70F2E2C-406B-0519-1315-8459F79E592B}"/>
              </a:ext>
            </a:extLst>
          </p:cNvPr>
          <p:cNvSpPr/>
          <p:nvPr/>
        </p:nvSpPr>
        <p:spPr>
          <a:xfrm>
            <a:off x="8706693" y="3506797"/>
            <a:ext cx="95122" cy="951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DC4FF4-F7B4-A056-6D33-E908FA93B013}"/>
              </a:ext>
            </a:extLst>
          </p:cNvPr>
          <p:cNvSpPr/>
          <p:nvPr/>
        </p:nvSpPr>
        <p:spPr>
          <a:xfrm>
            <a:off x="8896522" y="3506797"/>
            <a:ext cx="95122" cy="951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8B78B5E-2A3F-6FB2-405F-FE221A9FAF5B}"/>
              </a:ext>
            </a:extLst>
          </p:cNvPr>
          <p:cNvSpPr/>
          <p:nvPr/>
        </p:nvSpPr>
        <p:spPr>
          <a:xfrm>
            <a:off x="9086351" y="3506797"/>
            <a:ext cx="95122" cy="951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CF79239-6E74-7D96-9F3D-CAC5507129E1}"/>
              </a:ext>
            </a:extLst>
          </p:cNvPr>
          <p:cNvSpPr/>
          <p:nvPr/>
        </p:nvSpPr>
        <p:spPr>
          <a:xfrm>
            <a:off x="9354375" y="493382"/>
            <a:ext cx="365998" cy="576863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1A053F-A2C1-4D49-7BDB-C5BF9A147F78}"/>
              </a:ext>
            </a:extLst>
          </p:cNvPr>
          <p:cNvSpPr/>
          <p:nvPr/>
        </p:nvSpPr>
        <p:spPr>
          <a:xfrm>
            <a:off x="5333049" y="990537"/>
            <a:ext cx="1008668" cy="1008668"/>
          </a:xfrm>
          <a:prstGeom prst="ellips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Self </a:t>
            </a:r>
            <a:r>
              <a:rPr lang="en-US" dirty="0" err="1"/>
              <a:t>Att</a:t>
            </a:r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A3FE1B4-CAF5-1ED3-E7E7-686A2B7DE8DC}"/>
              </a:ext>
            </a:extLst>
          </p:cNvPr>
          <p:cNvSpPr/>
          <p:nvPr/>
        </p:nvSpPr>
        <p:spPr>
          <a:xfrm>
            <a:off x="5333049" y="2192263"/>
            <a:ext cx="1008668" cy="1008668"/>
          </a:xfrm>
          <a:prstGeom prst="ellipse">
            <a:avLst/>
          </a:prstGeom>
          <a:solidFill>
            <a:srgbClr val="00206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Cross </a:t>
            </a:r>
            <a:r>
              <a:rPr lang="en-US" sz="1600" dirty="0" err="1"/>
              <a:t>Att</a:t>
            </a:r>
            <a:endParaRPr lang="en-US" sz="16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69F8184-8C2D-D811-B1B6-2C95413A51D2}"/>
              </a:ext>
            </a:extLst>
          </p:cNvPr>
          <p:cNvSpPr/>
          <p:nvPr/>
        </p:nvSpPr>
        <p:spPr>
          <a:xfrm>
            <a:off x="5340574" y="5001187"/>
            <a:ext cx="1008668" cy="1008668"/>
          </a:xfrm>
          <a:prstGeom prst="ellips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Self </a:t>
            </a:r>
            <a:r>
              <a:rPr lang="en-US" dirty="0" err="1"/>
              <a:t>Att</a:t>
            </a:r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984D943-F3D8-3CDB-4BD1-9C1941DEA58C}"/>
              </a:ext>
            </a:extLst>
          </p:cNvPr>
          <p:cNvSpPr/>
          <p:nvPr/>
        </p:nvSpPr>
        <p:spPr>
          <a:xfrm>
            <a:off x="5333049" y="3802979"/>
            <a:ext cx="1008668" cy="1008668"/>
          </a:xfrm>
          <a:prstGeom prst="ellipse">
            <a:avLst/>
          </a:prstGeom>
          <a:solidFill>
            <a:srgbClr val="00206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Cross </a:t>
            </a:r>
            <a:r>
              <a:rPr lang="en-US" sz="1600" dirty="0" err="1"/>
              <a:t>Att</a:t>
            </a:r>
            <a:endParaRPr lang="en-US" sz="16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E8058D4-21A4-3DF0-A7CC-9681A84481FB}"/>
              </a:ext>
            </a:extLst>
          </p:cNvPr>
          <p:cNvSpPr/>
          <p:nvPr/>
        </p:nvSpPr>
        <p:spPr>
          <a:xfrm>
            <a:off x="7021107" y="1850854"/>
            <a:ext cx="372789" cy="37278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58F65C-4649-24F3-7AB5-0C9E52AA8C58}"/>
              </a:ext>
            </a:extLst>
          </p:cNvPr>
          <p:cNvSpPr/>
          <p:nvPr/>
        </p:nvSpPr>
        <p:spPr>
          <a:xfrm>
            <a:off x="6406461" y="1074241"/>
            <a:ext cx="424817" cy="8374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FF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E01056D-01BC-D0E5-BFE5-52FCED1CD037}"/>
              </a:ext>
            </a:extLst>
          </p:cNvPr>
          <p:cNvSpPr/>
          <p:nvPr/>
        </p:nvSpPr>
        <p:spPr>
          <a:xfrm>
            <a:off x="6403908" y="2231559"/>
            <a:ext cx="424817" cy="8374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FF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783BB58-109C-52CC-0361-BDDEA2CC939D}"/>
              </a:ext>
            </a:extLst>
          </p:cNvPr>
          <p:cNvSpPr/>
          <p:nvPr/>
        </p:nvSpPr>
        <p:spPr>
          <a:xfrm>
            <a:off x="6402030" y="3934225"/>
            <a:ext cx="424817" cy="8374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FF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FF0C7F-2889-47CD-D8AD-BAAE8EA4F99B}"/>
              </a:ext>
            </a:extLst>
          </p:cNvPr>
          <p:cNvSpPr/>
          <p:nvPr/>
        </p:nvSpPr>
        <p:spPr>
          <a:xfrm>
            <a:off x="6402029" y="5091543"/>
            <a:ext cx="424817" cy="8374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FF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A94E489-BEF6-6951-B50B-224F2AAFC52E}"/>
              </a:ext>
            </a:extLst>
          </p:cNvPr>
          <p:cNvSpPr/>
          <p:nvPr/>
        </p:nvSpPr>
        <p:spPr>
          <a:xfrm>
            <a:off x="7016676" y="4708611"/>
            <a:ext cx="372789" cy="37278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75E3E1A-BF59-C33A-8B6B-2522CA361605}"/>
              </a:ext>
            </a:extLst>
          </p:cNvPr>
          <p:cNvSpPr/>
          <p:nvPr/>
        </p:nvSpPr>
        <p:spPr>
          <a:xfrm>
            <a:off x="7462658" y="1618534"/>
            <a:ext cx="372789" cy="8374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FF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3C25537-B893-CC8F-A61D-8FA01F33035D}"/>
              </a:ext>
            </a:extLst>
          </p:cNvPr>
          <p:cNvSpPr/>
          <p:nvPr/>
        </p:nvSpPr>
        <p:spPr>
          <a:xfrm>
            <a:off x="7468345" y="4476291"/>
            <a:ext cx="372789" cy="8374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FF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763A2E4-FDDE-2A08-A511-CC2F9AA8D15B}"/>
              </a:ext>
            </a:extLst>
          </p:cNvPr>
          <p:cNvSpPr/>
          <p:nvPr/>
        </p:nvSpPr>
        <p:spPr>
          <a:xfrm>
            <a:off x="114809" y="129186"/>
            <a:ext cx="2099386" cy="1244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Chain mass, length, </a:t>
            </a:r>
            <a:r>
              <a:rPr lang="en-US" dirty="0" err="1">
                <a:solidFill>
                  <a:sysClr val="windowText" lastClr="000000"/>
                </a:solidFill>
              </a:rPr>
              <a:t>unsaturations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78B78A4-5CAC-3A59-AE75-CA7CA02C3EF5}"/>
              </a:ext>
            </a:extLst>
          </p:cNvPr>
          <p:cNvSpPr/>
          <p:nvPr/>
        </p:nvSpPr>
        <p:spPr>
          <a:xfrm>
            <a:off x="691071" y="5834756"/>
            <a:ext cx="2099386" cy="5244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O.H. atom residue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FD5FBFD-4D6D-0ECC-17B0-03875B0F433F}"/>
              </a:ext>
            </a:extLst>
          </p:cNvPr>
          <p:cNvSpPr/>
          <p:nvPr/>
        </p:nvSpPr>
        <p:spPr>
          <a:xfrm>
            <a:off x="10187811" y="601969"/>
            <a:ext cx="372789" cy="37278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67E2877-C744-0911-D3F5-E3770CE4AAE1}"/>
              </a:ext>
            </a:extLst>
          </p:cNvPr>
          <p:cNvSpPr txBox="1"/>
          <p:nvPr/>
        </p:nvSpPr>
        <p:spPr>
          <a:xfrm>
            <a:off x="10560600" y="601969"/>
            <a:ext cx="1497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Concatenate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44C9FA1-2937-5899-89C7-F47F800D62AB}"/>
              </a:ext>
            </a:extLst>
          </p:cNvPr>
          <p:cNvSpPr/>
          <p:nvPr/>
        </p:nvSpPr>
        <p:spPr>
          <a:xfrm>
            <a:off x="3053287" y="2218729"/>
            <a:ext cx="372789" cy="37278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52E8AB2-11B4-CC65-4775-543C65717A13}"/>
              </a:ext>
            </a:extLst>
          </p:cNvPr>
          <p:cNvSpPr/>
          <p:nvPr/>
        </p:nvSpPr>
        <p:spPr>
          <a:xfrm>
            <a:off x="2180521" y="4551731"/>
            <a:ext cx="372789" cy="37278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Trapezoid 94">
            <a:extLst>
              <a:ext uri="{FF2B5EF4-FFF2-40B4-BE49-F238E27FC236}">
                <a16:creationId xmlns:a16="http://schemas.microsoft.com/office/drawing/2014/main" id="{A58138AD-325D-0B38-AD73-3DF557BD8D61}"/>
              </a:ext>
            </a:extLst>
          </p:cNvPr>
          <p:cNvSpPr/>
          <p:nvPr/>
        </p:nvSpPr>
        <p:spPr>
          <a:xfrm rot="5400000">
            <a:off x="7597393" y="1775952"/>
            <a:ext cx="1244183" cy="597106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lip</a:t>
            </a:r>
          </a:p>
        </p:txBody>
      </p:sp>
      <p:sp>
        <p:nvSpPr>
          <p:cNvPr id="96" name="Trapezoid 95">
            <a:extLst>
              <a:ext uri="{FF2B5EF4-FFF2-40B4-BE49-F238E27FC236}">
                <a16:creationId xmlns:a16="http://schemas.microsoft.com/office/drawing/2014/main" id="{2DF14C50-9851-4E8E-D896-01613EE57B3B}"/>
              </a:ext>
            </a:extLst>
          </p:cNvPr>
          <p:cNvSpPr/>
          <p:nvPr/>
        </p:nvSpPr>
        <p:spPr>
          <a:xfrm rot="5400000">
            <a:off x="7597393" y="4607523"/>
            <a:ext cx="1244183" cy="597106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prot</a:t>
            </a:r>
            <a:endParaRPr lang="en-US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2" name="Arc 101">
            <a:extLst>
              <a:ext uri="{FF2B5EF4-FFF2-40B4-BE49-F238E27FC236}">
                <a16:creationId xmlns:a16="http://schemas.microsoft.com/office/drawing/2014/main" id="{3D9C4ABB-55E4-0BB3-E04E-E16E2BAF95D1}"/>
              </a:ext>
            </a:extLst>
          </p:cNvPr>
          <p:cNvSpPr/>
          <p:nvPr/>
        </p:nvSpPr>
        <p:spPr>
          <a:xfrm>
            <a:off x="3543127" y="848145"/>
            <a:ext cx="5258687" cy="2855628"/>
          </a:xfrm>
          <a:prstGeom prst="arc">
            <a:avLst>
              <a:gd name="adj1" fmla="val 10660575"/>
              <a:gd name="adj2" fmla="val 21273205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Arc 102">
            <a:extLst>
              <a:ext uri="{FF2B5EF4-FFF2-40B4-BE49-F238E27FC236}">
                <a16:creationId xmlns:a16="http://schemas.microsoft.com/office/drawing/2014/main" id="{A24F1630-3598-271A-265C-10BE2A3E513E}"/>
              </a:ext>
            </a:extLst>
          </p:cNvPr>
          <p:cNvSpPr/>
          <p:nvPr/>
        </p:nvSpPr>
        <p:spPr>
          <a:xfrm rot="10800000">
            <a:off x="3565615" y="3354603"/>
            <a:ext cx="5258687" cy="2855628"/>
          </a:xfrm>
          <a:prstGeom prst="arc">
            <a:avLst>
              <a:gd name="adj1" fmla="val 11018865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5C623442-0E71-C1B3-8410-81B1CBD41B22}"/>
              </a:ext>
            </a:extLst>
          </p:cNvPr>
          <p:cNvSpPr/>
          <p:nvPr/>
        </p:nvSpPr>
        <p:spPr>
          <a:xfrm>
            <a:off x="8623586" y="4719681"/>
            <a:ext cx="372789" cy="37278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7289BE6-2CED-FBDF-0E67-6BA21639E3C2}"/>
              </a:ext>
            </a:extLst>
          </p:cNvPr>
          <p:cNvSpPr/>
          <p:nvPr/>
        </p:nvSpPr>
        <p:spPr>
          <a:xfrm>
            <a:off x="8596078" y="1819474"/>
            <a:ext cx="372789" cy="37278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3DC5995-DB95-7428-15EA-FC95DCF5B800}"/>
              </a:ext>
            </a:extLst>
          </p:cNvPr>
          <p:cNvCxnSpPr>
            <a:cxnSpLocks/>
          </p:cNvCxnSpPr>
          <p:nvPr/>
        </p:nvCxnSpPr>
        <p:spPr>
          <a:xfrm>
            <a:off x="114808" y="3200931"/>
            <a:ext cx="1244183" cy="0"/>
          </a:xfrm>
          <a:prstGeom prst="line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F3BDEEBE-2B77-F814-4B64-DA10C4E4D700}"/>
              </a:ext>
            </a:extLst>
          </p:cNvPr>
          <p:cNvCxnSpPr>
            <a:cxnSpLocks/>
          </p:cNvCxnSpPr>
          <p:nvPr/>
        </p:nvCxnSpPr>
        <p:spPr>
          <a:xfrm>
            <a:off x="588590" y="3934225"/>
            <a:ext cx="1244183" cy="0"/>
          </a:xfrm>
          <a:prstGeom prst="line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20080949-93AA-A9F4-F87B-636D0ABA56D0}"/>
              </a:ext>
            </a:extLst>
          </p:cNvPr>
          <p:cNvSpPr txBox="1"/>
          <p:nvPr/>
        </p:nvSpPr>
        <p:spPr>
          <a:xfrm>
            <a:off x="286295" y="3367151"/>
            <a:ext cx="1497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Token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4060985-EAB0-C96C-09E9-F0B248909826}"/>
              </a:ext>
            </a:extLst>
          </p:cNvPr>
          <p:cNvSpPr txBox="1"/>
          <p:nvPr/>
        </p:nvSpPr>
        <p:spPr>
          <a:xfrm>
            <a:off x="9538814" y="6011886"/>
            <a:ext cx="180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Token =&gt; Pool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0F3B77D7-12DF-E63D-7F9B-5A03AD5F4006}"/>
              </a:ext>
            </a:extLst>
          </p:cNvPr>
          <p:cNvSpPr/>
          <p:nvPr/>
        </p:nvSpPr>
        <p:spPr>
          <a:xfrm>
            <a:off x="9781695" y="4685299"/>
            <a:ext cx="372789" cy="372789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A2EFDD-47A1-28C1-F340-95B73F026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252" y="0"/>
            <a:ext cx="12354504" cy="7000884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147BE90-7286-587B-05BE-98E0E79E7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21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C2E82-8989-D4A4-462B-4392760F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27F558-4573-788C-C59D-5E77F8F6BF9B}"/>
              </a:ext>
            </a:extLst>
          </p:cNvPr>
          <p:cNvSpPr/>
          <p:nvPr/>
        </p:nvSpPr>
        <p:spPr>
          <a:xfrm>
            <a:off x="-44150" y="-74205"/>
            <a:ext cx="12478215" cy="72520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91F4733-ED1B-EA4B-7025-042450D4B3B8}"/>
              </a:ext>
            </a:extLst>
          </p:cNvPr>
          <p:cNvSpPr/>
          <p:nvPr/>
        </p:nvSpPr>
        <p:spPr>
          <a:xfrm>
            <a:off x="3899203" y="497121"/>
            <a:ext cx="2834851" cy="586375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Transformer Block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9A7CD9-F634-A169-DDCB-B03535400D49}"/>
              </a:ext>
            </a:extLst>
          </p:cNvPr>
          <p:cNvCxnSpPr>
            <a:cxnSpLocks/>
          </p:cNvCxnSpPr>
          <p:nvPr/>
        </p:nvCxnSpPr>
        <p:spPr>
          <a:xfrm>
            <a:off x="7816994" y="2190324"/>
            <a:ext cx="2084731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riangle 27">
            <a:extLst>
              <a:ext uri="{FF2B5EF4-FFF2-40B4-BE49-F238E27FC236}">
                <a16:creationId xmlns:a16="http://schemas.microsoft.com/office/drawing/2014/main" id="{04EC6858-93A1-BCD8-950B-47961464E98B}"/>
              </a:ext>
            </a:extLst>
          </p:cNvPr>
          <p:cNvSpPr/>
          <p:nvPr/>
        </p:nvSpPr>
        <p:spPr>
          <a:xfrm rot="5400000">
            <a:off x="8768500" y="1806530"/>
            <a:ext cx="2206053" cy="729518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6624787-24B8-C9F6-F8F5-D0BDF4B44E4B}"/>
              </a:ext>
            </a:extLst>
          </p:cNvPr>
          <p:cNvSpPr/>
          <p:nvPr/>
        </p:nvSpPr>
        <p:spPr>
          <a:xfrm>
            <a:off x="8927410" y="2003929"/>
            <a:ext cx="372789" cy="372789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F21F5BA-BF24-2A77-81CB-C1729F8E34A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5927771" y="2145103"/>
            <a:ext cx="1957960" cy="429551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4E75670-616E-33EE-570F-58EE9C627707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5889586" y="4864982"/>
            <a:ext cx="1950756" cy="202577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D78D63C-EEDB-A0DF-96E2-0A935754AFA7}"/>
              </a:ext>
            </a:extLst>
          </p:cNvPr>
          <p:cNvCxnSpPr>
            <a:cxnSpLocks/>
          </p:cNvCxnSpPr>
          <p:nvPr/>
        </p:nvCxnSpPr>
        <p:spPr>
          <a:xfrm>
            <a:off x="7816994" y="5067561"/>
            <a:ext cx="783120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D65DB04-8CE3-F012-0640-177361FD55CD}"/>
              </a:ext>
            </a:extLst>
          </p:cNvPr>
          <p:cNvCxnSpPr>
            <a:cxnSpLocks/>
          </p:cNvCxnSpPr>
          <p:nvPr/>
        </p:nvCxnSpPr>
        <p:spPr>
          <a:xfrm flipV="1">
            <a:off x="1170222" y="2548480"/>
            <a:ext cx="4489015" cy="25626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DAB4CBC-4323-86F4-7C79-9F10ED1CECF0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3971110" y="4864982"/>
            <a:ext cx="1493659" cy="52697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5970BE-A3C4-E8A6-D36B-349162DFEEF7}"/>
              </a:ext>
            </a:extLst>
          </p:cNvPr>
          <p:cNvCxnSpPr>
            <a:cxnSpLocks/>
          </p:cNvCxnSpPr>
          <p:nvPr/>
        </p:nvCxnSpPr>
        <p:spPr>
          <a:xfrm>
            <a:off x="8600114" y="5048526"/>
            <a:ext cx="721863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DADFFF-AF9B-BF0F-D0A0-4348476A654C}"/>
              </a:ext>
            </a:extLst>
          </p:cNvPr>
          <p:cNvCxnSpPr>
            <a:cxnSpLocks/>
          </p:cNvCxnSpPr>
          <p:nvPr/>
        </p:nvCxnSpPr>
        <p:spPr>
          <a:xfrm>
            <a:off x="1616050" y="4899610"/>
            <a:ext cx="2449522" cy="7963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76620A5-4B94-B43C-5652-0A24E82093B9}"/>
              </a:ext>
            </a:extLst>
          </p:cNvPr>
          <p:cNvSpPr/>
          <p:nvPr/>
        </p:nvSpPr>
        <p:spPr>
          <a:xfrm>
            <a:off x="1157663" y="1878087"/>
            <a:ext cx="1244183" cy="1244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Lipid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BBE6F3-19AB-2B2F-8001-4B1A44CFCAB5}"/>
              </a:ext>
            </a:extLst>
          </p:cNvPr>
          <p:cNvSpPr/>
          <p:nvPr/>
        </p:nvSpPr>
        <p:spPr>
          <a:xfrm>
            <a:off x="1152608" y="4277518"/>
            <a:ext cx="1244183" cy="1244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Protein</a:t>
            </a:r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CBCD68CA-440A-F910-013B-7052C4EA1A3E}"/>
              </a:ext>
            </a:extLst>
          </p:cNvPr>
          <p:cNvSpPr/>
          <p:nvPr/>
        </p:nvSpPr>
        <p:spPr>
          <a:xfrm rot="5400000">
            <a:off x="8592945" y="4683767"/>
            <a:ext cx="2206053" cy="729518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4A27A0-A281-652D-FADB-53EDE1B4B806}"/>
              </a:ext>
            </a:extLst>
          </p:cNvPr>
          <p:cNvSpPr txBox="1"/>
          <p:nvPr/>
        </p:nvSpPr>
        <p:spPr>
          <a:xfrm>
            <a:off x="10140681" y="4864982"/>
            <a:ext cx="120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Prediction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E8B7B6-68AD-3BCF-4F75-F4D29BB1DD64}"/>
              </a:ext>
            </a:extLst>
          </p:cNvPr>
          <p:cNvSpPr txBox="1"/>
          <p:nvPr/>
        </p:nvSpPr>
        <p:spPr>
          <a:xfrm>
            <a:off x="9308724" y="4826382"/>
            <a:ext cx="1200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Proj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i="1" dirty="0">
                <a:solidFill>
                  <a:schemeClr val="bg1"/>
                </a:solidFill>
              </a:rPr>
              <a:t>   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DB6D2C-403B-2BF5-D0DB-7395498A662F}"/>
              </a:ext>
            </a:extLst>
          </p:cNvPr>
          <p:cNvSpPr/>
          <p:nvPr/>
        </p:nvSpPr>
        <p:spPr>
          <a:xfrm>
            <a:off x="7372096" y="3668281"/>
            <a:ext cx="95122" cy="951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7E5BD4-2B4B-F465-6174-979AA8C7BE9D}"/>
              </a:ext>
            </a:extLst>
          </p:cNvPr>
          <p:cNvSpPr/>
          <p:nvPr/>
        </p:nvSpPr>
        <p:spPr>
          <a:xfrm>
            <a:off x="7561925" y="3668281"/>
            <a:ext cx="95122" cy="951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7D9BD71-8C2C-FB19-FB41-41E052FEEB24}"/>
              </a:ext>
            </a:extLst>
          </p:cNvPr>
          <p:cNvSpPr/>
          <p:nvPr/>
        </p:nvSpPr>
        <p:spPr>
          <a:xfrm>
            <a:off x="7751754" y="3668281"/>
            <a:ext cx="95122" cy="951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2CDE796-4F49-E82A-F111-10B9743923B9}"/>
              </a:ext>
            </a:extLst>
          </p:cNvPr>
          <p:cNvSpPr/>
          <p:nvPr/>
        </p:nvSpPr>
        <p:spPr>
          <a:xfrm>
            <a:off x="8417115" y="654866"/>
            <a:ext cx="365998" cy="576863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10FAEF7-3187-A3DB-ADD9-4E666403EF24}"/>
              </a:ext>
            </a:extLst>
          </p:cNvPr>
          <p:cNvSpPr/>
          <p:nvPr/>
        </p:nvSpPr>
        <p:spPr>
          <a:xfrm>
            <a:off x="4429674" y="2020192"/>
            <a:ext cx="1008668" cy="1008668"/>
          </a:xfrm>
          <a:prstGeom prst="ellips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Self </a:t>
            </a:r>
            <a:r>
              <a:rPr lang="en-US" dirty="0" err="1"/>
              <a:t>Att</a:t>
            </a:r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9E2041A-F169-36F9-D901-225459E12D74}"/>
              </a:ext>
            </a:extLst>
          </p:cNvPr>
          <p:cNvSpPr/>
          <p:nvPr/>
        </p:nvSpPr>
        <p:spPr>
          <a:xfrm>
            <a:off x="4403314" y="4355912"/>
            <a:ext cx="1008668" cy="1008668"/>
          </a:xfrm>
          <a:prstGeom prst="ellips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Self </a:t>
            </a:r>
            <a:r>
              <a:rPr lang="en-US" dirty="0" err="1"/>
              <a:t>Att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5AD05B4-CE4D-C4B2-2E34-6C6ECCCAAEC3}"/>
              </a:ext>
            </a:extLst>
          </p:cNvPr>
          <p:cNvSpPr/>
          <p:nvPr/>
        </p:nvSpPr>
        <p:spPr>
          <a:xfrm>
            <a:off x="5502954" y="2155940"/>
            <a:ext cx="424817" cy="8374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FF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7E6DF08-161B-4970-545F-EAAF770090A6}"/>
              </a:ext>
            </a:extLst>
          </p:cNvPr>
          <p:cNvSpPr/>
          <p:nvPr/>
        </p:nvSpPr>
        <p:spPr>
          <a:xfrm>
            <a:off x="5464769" y="4446268"/>
            <a:ext cx="424817" cy="8374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FF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6590D0F-22F7-A9BF-E45C-A86B30A05FB9}"/>
              </a:ext>
            </a:extLst>
          </p:cNvPr>
          <p:cNvSpPr txBox="1"/>
          <p:nvPr/>
        </p:nvSpPr>
        <p:spPr>
          <a:xfrm>
            <a:off x="10182321" y="3361060"/>
            <a:ext cx="1497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Loss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02" name="Arc 101">
            <a:extLst>
              <a:ext uri="{FF2B5EF4-FFF2-40B4-BE49-F238E27FC236}">
                <a16:creationId xmlns:a16="http://schemas.microsoft.com/office/drawing/2014/main" id="{37DA3299-BBB5-4B66-F73C-9E3FBB26F9BA}"/>
              </a:ext>
            </a:extLst>
          </p:cNvPr>
          <p:cNvSpPr/>
          <p:nvPr/>
        </p:nvSpPr>
        <p:spPr>
          <a:xfrm>
            <a:off x="2605867" y="1009629"/>
            <a:ext cx="5258687" cy="2855628"/>
          </a:xfrm>
          <a:prstGeom prst="arc">
            <a:avLst>
              <a:gd name="adj1" fmla="val 10660575"/>
              <a:gd name="adj2" fmla="val 21273205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Arc 102">
            <a:extLst>
              <a:ext uri="{FF2B5EF4-FFF2-40B4-BE49-F238E27FC236}">
                <a16:creationId xmlns:a16="http://schemas.microsoft.com/office/drawing/2014/main" id="{7BFD1BA2-601F-5726-00D9-05D35FA3A53D}"/>
              </a:ext>
            </a:extLst>
          </p:cNvPr>
          <p:cNvSpPr/>
          <p:nvPr/>
        </p:nvSpPr>
        <p:spPr>
          <a:xfrm rot="10800000">
            <a:off x="2628355" y="3516087"/>
            <a:ext cx="5258687" cy="2855628"/>
          </a:xfrm>
          <a:prstGeom prst="arc">
            <a:avLst>
              <a:gd name="adj1" fmla="val 11018865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2AFB7F2-6CF4-4CBD-C93E-480AF194C2C2}"/>
              </a:ext>
            </a:extLst>
          </p:cNvPr>
          <p:cNvSpPr/>
          <p:nvPr/>
        </p:nvSpPr>
        <p:spPr>
          <a:xfrm>
            <a:off x="7686326" y="4881165"/>
            <a:ext cx="372789" cy="37278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76DB7FF-8AB7-32BD-12FC-CA4CA9A45016}"/>
              </a:ext>
            </a:extLst>
          </p:cNvPr>
          <p:cNvSpPr/>
          <p:nvPr/>
        </p:nvSpPr>
        <p:spPr>
          <a:xfrm>
            <a:off x="7658818" y="1980958"/>
            <a:ext cx="372789" cy="37278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86D3093-8EE8-BE84-4FFB-AEE3B79417DD}"/>
              </a:ext>
            </a:extLst>
          </p:cNvPr>
          <p:cNvCxnSpPr>
            <a:cxnSpLocks/>
          </p:cNvCxnSpPr>
          <p:nvPr/>
        </p:nvCxnSpPr>
        <p:spPr>
          <a:xfrm>
            <a:off x="10945478" y="2765437"/>
            <a:ext cx="0" cy="1686111"/>
          </a:xfrm>
          <a:prstGeom prst="line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4C343955-AE8D-9565-956B-E58DD6BB9B08}"/>
              </a:ext>
            </a:extLst>
          </p:cNvPr>
          <p:cNvSpPr txBox="1"/>
          <p:nvPr/>
        </p:nvSpPr>
        <p:spPr>
          <a:xfrm>
            <a:off x="-650965" y="3528635"/>
            <a:ext cx="1497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Token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2E2638A-BBDB-DD50-7AFA-7B9CC49FB8DD}"/>
              </a:ext>
            </a:extLst>
          </p:cNvPr>
          <p:cNvSpPr txBox="1"/>
          <p:nvPr/>
        </p:nvSpPr>
        <p:spPr>
          <a:xfrm>
            <a:off x="8601554" y="6173370"/>
            <a:ext cx="180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Token =&gt; Pool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83B73661-2E12-5210-DA6D-7A678280B40E}"/>
              </a:ext>
            </a:extLst>
          </p:cNvPr>
          <p:cNvSpPr/>
          <p:nvPr/>
        </p:nvSpPr>
        <p:spPr>
          <a:xfrm>
            <a:off x="8844435" y="4846783"/>
            <a:ext cx="372789" cy="372789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F406C31-DAC1-7671-910D-49CE2269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73340" y="6517834"/>
            <a:ext cx="2743200" cy="365125"/>
          </a:xfrm>
        </p:spPr>
        <p:txBody>
          <a:bodyPr/>
          <a:lstStyle/>
          <a:p>
            <a:fld id="{6FF230B4-38DB-014E-9F0F-88F1DD19F89E}" type="slidenum">
              <a:rPr lang="en-US" smtClean="0"/>
              <a:t>24</a:t>
            </a:fld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85F2BE-D66E-B583-E05C-7941489AA25B}"/>
              </a:ext>
            </a:extLst>
          </p:cNvPr>
          <p:cNvSpPr txBox="1"/>
          <p:nvPr/>
        </p:nvSpPr>
        <p:spPr>
          <a:xfrm>
            <a:off x="10236286" y="1960437"/>
            <a:ext cx="120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Prediction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082B98-1F48-8BF3-8C44-A9AF8795BA08}"/>
              </a:ext>
            </a:extLst>
          </p:cNvPr>
          <p:cNvSpPr txBox="1"/>
          <p:nvPr/>
        </p:nvSpPr>
        <p:spPr>
          <a:xfrm>
            <a:off x="9461777" y="1895739"/>
            <a:ext cx="1200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Proj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i="1" dirty="0">
                <a:solidFill>
                  <a:schemeClr val="bg1"/>
                </a:solidFill>
              </a:rPr>
              <a:t>   2</a:t>
            </a:r>
          </a:p>
        </p:txBody>
      </p:sp>
    </p:spTree>
    <p:extLst>
      <p:ext uri="{BB962C8B-B14F-4D97-AF65-F5344CB8AC3E}">
        <p14:creationId xmlns:p14="http://schemas.microsoft.com/office/powerpoint/2010/main" val="1337142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616D2-622C-E3A2-2DA2-E04E06F33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29D537-B6CA-398E-B6F1-2FCAA76BB07E}"/>
              </a:ext>
            </a:extLst>
          </p:cNvPr>
          <p:cNvSpPr/>
          <p:nvPr/>
        </p:nvSpPr>
        <p:spPr>
          <a:xfrm>
            <a:off x="-126497" y="-89209"/>
            <a:ext cx="12478215" cy="72520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B1E260-2E18-5CA2-C26A-C27A270F6596}"/>
              </a:ext>
            </a:extLst>
          </p:cNvPr>
          <p:cNvCxnSpPr>
            <a:cxnSpLocks/>
          </p:cNvCxnSpPr>
          <p:nvPr/>
        </p:nvCxnSpPr>
        <p:spPr>
          <a:xfrm>
            <a:off x="3280792" y="4712023"/>
            <a:ext cx="4257432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2B836E2-B3F7-179A-1A49-38AB71CD6DC1}"/>
              </a:ext>
            </a:extLst>
          </p:cNvPr>
          <p:cNvSpPr/>
          <p:nvPr/>
        </p:nvSpPr>
        <p:spPr>
          <a:xfrm>
            <a:off x="2690784" y="4082439"/>
            <a:ext cx="1244183" cy="1244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Protein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31B2E7-912E-C10F-E084-9939B3CAC52B}"/>
              </a:ext>
            </a:extLst>
          </p:cNvPr>
          <p:cNvSpPr/>
          <p:nvPr/>
        </p:nvSpPr>
        <p:spPr>
          <a:xfrm>
            <a:off x="4488354" y="4089933"/>
            <a:ext cx="597108" cy="12441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GNN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BBFE33-B9DE-63C0-1015-06A2D6ACD804}"/>
              </a:ext>
            </a:extLst>
          </p:cNvPr>
          <p:cNvSpPr txBox="1"/>
          <p:nvPr/>
        </p:nvSpPr>
        <p:spPr>
          <a:xfrm>
            <a:off x="10825499" y="2828212"/>
            <a:ext cx="120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47D0C3-94FA-0B0C-317F-F9E71210C0EE}"/>
              </a:ext>
            </a:extLst>
          </p:cNvPr>
          <p:cNvSpPr txBox="1"/>
          <p:nvPr/>
        </p:nvSpPr>
        <p:spPr>
          <a:xfrm>
            <a:off x="7607381" y="4524584"/>
            <a:ext cx="120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Pocket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C87CB85-4196-EEDD-4F52-603BD1BD1E92}"/>
              </a:ext>
            </a:extLst>
          </p:cNvPr>
          <p:cNvSpPr/>
          <p:nvPr/>
        </p:nvSpPr>
        <p:spPr>
          <a:xfrm>
            <a:off x="5608277" y="4174339"/>
            <a:ext cx="1008668" cy="1008668"/>
          </a:xfrm>
          <a:prstGeom prst="ellips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Self Attention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6608518-B754-0289-4DF8-F037CBF0BAB0}"/>
              </a:ext>
            </a:extLst>
          </p:cNvPr>
          <p:cNvSpPr/>
          <p:nvPr/>
        </p:nvSpPr>
        <p:spPr>
          <a:xfrm>
            <a:off x="6669732" y="4264695"/>
            <a:ext cx="424817" cy="8374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FF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95398A2-1790-7D14-DB09-A72DF74908B3}"/>
              </a:ext>
            </a:extLst>
          </p:cNvPr>
          <p:cNvSpPr/>
          <p:nvPr/>
        </p:nvSpPr>
        <p:spPr>
          <a:xfrm>
            <a:off x="10187811" y="601969"/>
            <a:ext cx="372789" cy="37278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97605D-45B8-097C-D876-EFF4B60E3E3B}"/>
              </a:ext>
            </a:extLst>
          </p:cNvPr>
          <p:cNvSpPr txBox="1"/>
          <p:nvPr/>
        </p:nvSpPr>
        <p:spPr>
          <a:xfrm>
            <a:off x="10560600" y="601969"/>
            <a:ext cx="1497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Concatenate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E07CFDA-0FC6-37C8-0307-62307030461C}"/>
              </a:ext>
            </a:extLst>
          </p:cNvPr>
          <p:cNvSpPr txBox="1"/>
          <p:nvPr/>
        </p:nvSpPr>
        <p:spPr>
          <a:xfrm>
            <a:off x="9538814" y="6011886"/>
            <a:ext cx="180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Token =&gt; Pool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7596EA5-E009-0811-BD16-9D355DA8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25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8BC890-40FF-B159-F6C5-13F75D184330}"/>
              </a:ext>
            </a:extLst>
          </p:cNvPr>
          <p:cNvCxnSpPr>
            <a:cxnSpLocks/>
          </p:cNvCxnSpPr>
          <p:nvPr/>
        </p:nvCxnSpPr>
        <p:spPr>
          <a:xfrm>
            <a:off x="3280792" y="1877674"/>
            <a:ext cx="4257432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1831800-917C-2765-0AA2-704B8113935B}"/>
              </a:ext>
            </a:extLst>
          </p:cNvPr>
          <p:cNvSpPr/>
          <p:nvPr/>
        </p:nvSpPr>
        <p:spPr>
          <a:xfrm>
            <a:off x="2690784" y="1248090"/>
            <a:ext cx="1244183" cy="1244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Lipid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286504-DEE5-93BF-316F-A87D9FAD4DE5}"/>
              </a:ext>
            </a:extLst>
          </p:cNvPr>
          <p:cNvSpPr/>
          <p:nvPr/>
        </p:nvSpPr>
        <p:spPr>
          <a:xfrm>
            <a:off x="4488354" y="1255584"/>
            <a:ext cx="597108" cy="12441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MLP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34A809-018B-3B1B-E841-5E8FA4D37994}"/>
              </a:ext>
            </a:extLst>
          </p:cNvPr>
          <p:cNvSpPr txBox="1"/>
          <p:nvPr/>
        </p:nvSpPr>
        <p:spPr>
          <a:xfrm>
            <a:off x="7607381" y="1690235"/>
            <a:ext cx="4418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Property (head group, mass, length, unsaturation)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B1CB20B-9992-5299-E4E3-E0A86CA74990}"/>
              </a:ext>
            </a:extLst>
          </p:cNvPr>
          <p:cNvSpPr/>
          <p:nvPr/>
        </p:nvSpPr>
        <p:spPr>
          <a:xfrm>
            <a:off x="5608277" y="1339990"/>
            <a:ext cx="1008668" cy="1008668"/>
          </a:xfrm>
          <a:prstGeom prst="ellips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Self Attention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EE3D6A9-E83B-5172-D96D-C48E71101BA2}"/>
              </a:ext>
            </a:extLst>
          </p:cNvPr>
          <p:cNvSpPr/>
          <p:nvPr/>
        </p:nvSpPr>
        <p:spPr>
          <a:xfrm>
            <a:off x="6669732" y="1430346"/>
            <a:ext cx="424817" cy="8374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FF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624446-8D56-AB01-A62C-41CDE75F2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Baloo Tamma 2 SemiBold" panose="03080502040302020200" pitchFamily="66" charset="77"/>
                <a:cs typeface="Baloo Tamma 2 SemiBold" panose="03080502040302020200" pitchFamily="66" charset="77"/>
              </a:rPr>
              <a:t>Toy Task</a:t>
            </a:r>
          </a:p>
        </p:txBody>
      </p:sp>
    </p:spTree>
    <p:extLst>
      <p:ext uri="{BB962C8B-B14F-4D97-AF65-F5344CB8AC3E}">
        <p14:creationId xmlns:p14="http://schemas.microsoft.com/office/powerpoint/2010/main" val="2019430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FAD66-D652-61D7-E34F-30493E2B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CC0B36-073C-5211-17A1-33361988BE60}"/>
              </a:ext>
            </a:extLst>
          </p:cNvPr>
          <p:cNvSpPr/>
          <p:nvPr/>
        </p:nvSpPr>
        <p:spPr>
          <a:xfrm>
            <a:off x="0" y="8797"/>
            <a:ext cx="12478215" cy="72520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C425F6-4E57-F136-FDD1-063DCFBED0B7}"/>
              </a:ext>
            </a:extLst>
          </p:cNvPr>
          <p:cNvCxnSpPr>
            <a:cxnSpLocks/>
            <a:stCxn id="5" idx="3"/>
            <a:endCxn id="33" idx="2"/>
          </p:cNvCxnSpPr>
          <p:nvPr/>
        </p:nvCxnSpPr>
        <p:spPr>
          <a:xfrm flipV="1">
            <a:off x="3934966" y="3278249"/>
            <a:ext cx="1491849" cy="713141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C9BFF94-61AB-9920-2A15-9E4F5A4C8A65}"/>
              </a:ext>
            </a:extLst>
          </p:cNvPr>
          <p:cNvSpPr/>
          <p:nvPr/>
        </p:nvSpPr>
        <p:spPr>
          <a:xfrm>
            <a:off x="2690783" y="3369298"/>
            <a:ext cx="1244183" cy="1244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Protein</a:t>
            </a: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Structures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EFC958-C1AD-205F-0C5B-44D567007BB4}"/>
              </a:ext>
            </a:extLst>
          </p:cNvPr>
          <p:cNvSpPr txBox="1"/>
          <p:nvPr/>
        </p:nvSpPr>
        <p:spPr>
          <a:xfrm>
            <a:off x="10825499" y="2828212"/>
            <a:ext cx="120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Prediction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320B46B-3EEB-27C4-D20A-11E2DDBDD658}"/>
              </a:ext>
            </a:extLst>
          </p:cNvPr>
          <p:cNvSpPr/>
          <p:nvPr/>
        </p:nvSpPr>
        <p:spPr>
          <a:xfrm>
            <a:off x="10187811" y="601969"/>
            <a:ext cx="372789" cy="37278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820F997-C3DD-3CA1-6127-B11C0BF40B17}"/>
              </a:ext>
            </a:extLst>
          </p:cNvPr>
          <p:cNvSpPr txBox="1"/>
          <p:nvPr/>
        </p:nvSpPr>
        <p:spPr>
          <a:xfrm>
            <a:off x="10560600" y="601969"/>
            <a:ext cx="1497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Concatenate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E4E2D01-B4CE-F71A-D90A-EEE2EEA56D3C}"/>
              </a:ext>
            </a:extLst>
          </p:cNvPr>
          <p:cNvSpPr txBox="1"/>
          <p:nvPr/>
        </p:nvSpPr>
        <p:spPr>
          <a:xfrm>
            <a:off x="9538814" y="6011886"/>
            <a:ext cx="180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Token =&gt; Pool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ED7D4D6-FA74-DC79-78AB-C48A2B61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26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812211E-3506-1490-407B-3E682A22B4F4}"/>
              </a:ext>
            </a:extLst>
          </p:cNvPr>
          <p:cNvCxnSpPr>
            <a:cxnSpLocks/>
            <a:stCxn id="29" idx="3"/>
            <a:endCxn id="33" idx="2"/>
          </p:cNvCxnSpPr>
          <p:nvPr/>
        </p:nvCxnSpPr>
        <p:spPr>
          <a:xfrm>
            <a:off x="3934967" y="2656158"/>
            <a:ext cx="1491848" cy="622091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DCE9A27-B456-4529-F6ED-805BC514DB7A}"/>
              </a:ext>
            </a:extLst>
          </p:cNvPr>
          <p:cNvSpPr/>
          <p:nvPr/>
        </p:nvSpPr>
        <p:spPr>
          <a:xfrm>
            <a:off x="2690784" y="2034066"/>
            <a:ext cx="1244183" cy="1244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Lipid</a:t>
            </a: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SMILES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60C3D9-E90E-E475-B2BF-10C6F715DDE6}"/>
              </a:ext>
            </a:extLst>
          </p:cNvPr>
          <p:cNvSpPr/>
          <p:nvPr/>
        </p:nvSpPr>
        <p:spPr>
          <a:xfrm>
            <a:off x="5426815" y="2343123"/>
            <a:ext cx="1870251" cy="1870251"/>
          </a:xfrm>
          <a:prstGeom prst="ellips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Interaction</a:t>
            </a:r>
          </a:p>
        </p:txBody>
      </p:sp>
    </p:spTree>
    <p:extLst>
      <p:ext uri="{BB962C8B-B14F-4D97-AF65-F5344CB8AC3E}">
        <p14:creationId xmlns:p14="http://schemas.microsoft.com/office/powerpoint/2010/main" val="3197225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DF6C7-AF79-E89F-4E5F-A0DAF832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762BA-AC19-2377-1FAA-FD98392E1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D4CBE-C4D2-CEFB-581D-93FEDF95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27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B78DB0-B9A7-05AA-4EED-94F7F12D5767}"/>
              </a:ext>
            </a:extLst>
          </p:cNvPr>
          <p:cNvSpPr/>
          <p:nvPr/>
        </p:nvSpPr>
        <p:spPr>
          <a:xfrm>
            <a:off x="-143108" y="-107018"/>
            <a:ext cx="12478215" cy="72520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FC2F52-BC59-1F9B-31BD-EF0169E92AC3}"/>
              </a:ext>
            </a:extLst>
          </p:cNvPr>
          <p:cNvCxnSpPr>
            <a:cxnSpLocks/>
          </p:cNvCxnSpPr>
          <p:nvPr/>
        </p:nvCxnSpPr>
        <p:spPr>
          <a:xfrm>
            <a:off x="3267282" y="3429000"/>
            <a:ext cx="4257432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9A6E669-F387-624D-CD27-F64D9C7DD4DD}"/>
              </a:ext>
            </a:extLst>
          </p:cNvPr>
          <p:cNvSpPr/>
          <p:nvPr/>
        </p:nvSpPr>
        <p:spPr>
          <a:xfrm>
            <a:off x="2677274" y="2799416"/>
            <a:ext cx="1244183" cy="1244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Protein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D304D-E395-0FB7-F2DB-A63F9E805CE6}"/>
              </a:ext>
            </a:extLst>
          </p:cNvPr>
          <p:cNvSpPr txBox="1"/>
          <p:nvPr/>
        </p:nvSpPr>
        <p:spPr>
          <a:xfrm>
            <a:off x="7593871" y="3241561"/>
            <a:ext cx="120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Pocket ?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265D2A-D36A-8BE2-8A64-7FEBCE20B783}"/>
              </a:ext>
            </a:extLst>
          </p:cNvPr>
          <p:cNvSpPr/>
          <p:nvPr/>
        </p:nvSpPr>
        <p:spPr>
          <a:xfrm>
            <a:off x="5351274" y="2049880"/>
            <a:ext cx="854948" cy="12441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GNN 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C80687-752D-43D0-43DC-C05CEE9634AC}"/>
              </a:ext>
            </a:extLst>
          </p:cNvPr>
          <p:cNvSpPr/>
          <p:nvPr/>
        </p:nvSpPr>
        <p:spPr>
          <a:xfrm>
            <a:off x="5351274" y="3563938"/>
            <a:ext cx="854948" cy="12441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PLM ?</a:t>
            </a:r>
          </a:p>
        </p:txBody>
      </p:sp>
    </p:spTree>
    <p:extLst>
      <p:ext uri="{BB962C8B-B14F-4D97-AF65-F5344CB8AC3E}">
        <p14:creationId xmlns:p14="http://schemas.microsoft.com/office/powerpoint/2010/main" val="2409109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C78C-E560-4D06-866D-49A16AEED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BC34B-5BB9-66E0-C1CC-E0A7B89E7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3DD7F-8BE1-1A26-AFF4-FD476160A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28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75C417-3958-77C9-7B7B-265CA3AEA6D2}"/>
              </a:ext>
            </a:extLst>
          </p:cNvPr>
          <p:cNvSpPr>
            <a:spLocks/>
          </p:cNvSpPr>
          <p:nvPr/>
        </p:nvSpPr>
        <p:spPr>
          <a:xfrm>
            <a:off x="-145774" y="-100811"/>
            <a:ext cx="12483548" cy="7166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DA74B3-F76E-0CA5-9265-00AC8C05C466}"/>
              </a:ext>
            </a:extLst>
          </p:cNvPr>
          <p:cNvCxnSpPr>
            <a:cxnSpLocks/>
          </p:cNvCxnSpPr>
          <p:nvPr/>
        </p:nvCxnSpPr>
        <p:spPr>
          <a:xfrm>
            <a:off x="2201189" y="3347662"/>
            <a:ext cx="7754699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C4E6E9E-BB0D-86A4-6844-76054F5EBC8C}"/>
              </a:ext>
            </a:extLst>
          </p:cNvPr>
          <p:cNvSpPr/>
          <p:nvPr/>
        </p:nvSpPr>
        <p:spPr>
          <a:xfrm>
            <a:off x="53326" y="196684"/>
            <a:ext cx="2384243" cy="67153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Protein</a:t>
            </a:r>
          </a:p>
          <a:p>
            <a:pPr algn="ctr"/>
            <a:endParaRPr lang="en-US" sz="1600" b="1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Geometric</a:t>
            </a:r>
            <a:r>
              <a:rPr lang="en-US" sz="1600" b="1" dirty="0">
                <a:solidFill>
                  <a:sysClr val="windowText" lastClr="000000"/>
                </a:solidFill>
              </a:rPr>
              <a:t>:</a:t>
            </a:r>
          </a:p>
          <a:p>
            <a:pPr marL="285750" indent="-285750" algn="ctr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</a:rPr>
              <a:t>AA type</a:t>
            </a:r>
          </a:p>
          <a:p>
            <a:pPr marL="285750" indent="-285750" algn="ctr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</a:rPr>
              <a:t>SAS area</a:t>
            </a:r>
          </a:p>
          <a:p>
            <a:pPr marL="285750" indent="-285750" algn="ctr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</a:rPr>
              <a:t>Volume</a:t>
            </a:r>
          </a:p>
          <a:p>
            <a:pPr marL="285750" indent="-285750" algn="ctr">
              <a:buFontTx/>
              <a:buChar char="-"/>
            </a:pPr>
            <a:endParaRPr lang="en-US" sz="1600" dirty="0">
              <a:solidFill>
                <a:sysClr val="windowText" lastClr="000000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en-US" sz="1600" dirty="0" err="1">
                <a:solidFill>
                  <a:sysClr val="windowText" lastClr="000000"/>
                </a:solidFill>
              </a:rPr>
              <a:t>Buriedness</a:t>
            </a:r>
            <a:endParaRPr lang="en-US" sz="1600" dirty="0">
              <a:solidFill>
                <a:sysClr val="windowText" lastClr="000000"/>
              </a:solidFill>
            </a:endParaRPr>
          </a:p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Pre-trained PLM:</a:t>
            </a:r>
          </a:p>
          <a:p>
            <a:pPr marL="285750" indent="-285750" algn="ctr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</a:rPr>
              <a:t>ESM3 embeddings</a:t>
            </a:r>
          </a:p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C04F22-49DB-6D06-4104-366D9C84D4BD}"/>
              </a:ext>
            </a:extLst>
          </p:cNvPr>
          <p:cNvSpPr/>
          <p:nvPr/>
        </p:nvSpPr>
        <p:spPr>
          <a:xfrm>
            <a:off x="4160772" y="2296849"/>
            <a:ext cx="1027866" cy="20642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GCN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39F6FA-6E40-B8A2-1A2E-743FE8833AEC}"/>
              </a:ext>
            </a:extLst>
          </p:cNvPr>
          <p:cNvSpPr txBox="1"/>
          <p:nvPr/>
        </p:nvSpPr>
        <p:spPr>
          <a:xfrm>
            <a:off x="10297468" y="3159081"/>
            <a:ext cx="1949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Family Prediction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Class (10)</a:t>
            </a: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83D17643-EE73-D9C3-143D-C5F16C58B2F1}"/>
              </a:ext>
            </a:extLst>
          </p:cNvPr>
          <p:cNvSpPr/>
          <p:nvPr/>
        </p:nvSpPr>
        <p:spPr>
          <a:xfrm rot="5400000">
            <a:off x="2579074" y="2602598"/>
            <a:ext cx="1378446" cy="1478845"/>
          </a:xfrm>
          <a:custGeom>
            <a:avLst/>
            <a:gdLst>
              <a:gd name="connsiteX0" fmla="*/ 0 w 1244183"/>
              <a:gd name="connsiteY0" fmla="*/ 1478845 h 1478845"/>
              <a:gd name="connsiteX1" fmla="*/ 311046 w 1244183"/>
              <a:gd name="connsiteY1" fmla="*/ 0 h 1478845"/>
              <a:gd name="connsiteX2" fmla="*/ 933137 w 1244183"/>
              <a:gd name="connsiteY2" fmla="*/ 0 h 1478845"/>
              <a:gd name="connsiteX3" fmla="*/ 1244183 w 1244183"/>
              <a:gd name="connsiteY3" fmla="*/ 1478845 h 1478845"/>
              <a:gd name="connsiteX4" fmla="*/ 0 w 1244183"/>
              <a:gd name="connsiteY4" fmla="*/ 1478845 h 1478845"/>
              <a:gd name="connsiteX0" fmla="*/ 38909 w 933137"/>
              <a:gd name="connsiteY0" fmla="*/ 1467556 h 1478845"/>
              <a:gd name="connsiteX1" fmla="*/ 0 w 933137"/>
              <a:gd name="connsiteY1" fmla="*/ 0 h 1478845"/>
              <a:gd name="connsiteX2" fmla="*/ 622091 w 933137"/>
              <a:gd name="connsiteY2" fmla="*/ 0 h 1478845"/>
              <a:gd name="connsiteX3" fmla="*/ 933137 w 933137"/>
              <a:gd name="connsiteY3" fmla="*/ 1478845 h 1478845"/>
              <a:gd name="connsiteX4" fmla="*/ 38909 w 933137"/>
              <a:gd name="connsiteY4" fmla="*/ 1467556 h 1478845"/>
              <a:gd name="connsiteX0" fmla="*/ 38909 w 622091"/>
              <a:gd name="connsiteY0" fmla="*/ 1467556 h 1478845"/>
              <a:gd name="connsiteX1" fmla="*/ 0 w 622091"/>
              <a:gd name="connsiteY1" fmla="*/ 0 h 1478845"/>
              <a:gd name="connsiteX2" fmla="*/ 622091 w 622091"/>
              <a:gd name="connsiteY2" fmla="*/ 0 h 1478845"/>
              <a:gd name="connsiteX3" fmla="*/ 515448 w 622091"/>
              <a:gd name="connsiteY3" fmla="*/ 1478845 h 1478845"/>
              <a:gd name="connsiteX4" fmla="*/ 38909 w 622091"/>
              <a:gd name="connsiteY4" fmla="*/ 1467556 h 1478845"/>
              <a:gd name="connsiteX0" fmla="*/ 422731 w 1005913"/>
              <a:gd name="connsiteY0" fmla="*/ 1467556 h 1478845"/>
              <a:gd name="connsiteX1" fmla="*/ 0 w 1005913"/>
              <a:gd name="connsiteY1" fmla="*/ 0 h 1478845"/>
              <a:gd name="connsiteX2" fmla="*/ 1005913 w 1005913"/>
              <a:gd name="connsiteY2" fmla="*/ 0 h 1478845"/>
              <a:gd name="connsiteX3" fmla="*/ 899270 w 1005913"/>
              <a:gd name="connsiteY3" fmla="*/ 1478845 h 1478845"/>
              <a:gd name="connsiteX4" fmla="*/ 422731 w 1005913"/>
              <a:gd name="connsiteY4" fmla="*/ 1467556 h 1478845"/>
              <a:gd name="connsiteX0" fmla="*/ 422731 w 1310713"/>
              <a:gd name="connsiteY0" fmla="*/ 1467556 h 1478845"/>
              <a:gd name="connsiteX1" fmla="*/ 0 w 1310713"/>
              <a:gd name="connsiteY1" fmla="*/ 0 h 1478845"/>
              <a:gd name="connsiteX2" fmla="*/ 1310713 w 1310713"/>
              <a:gd name="connsiteY2" fmla="*/ 0 h 1478845"/>
              <a:gd name="connsiteX3" fmla="*/ 899270 w 1310713"/>
              <a:gd name="connsiteY3" fmla="*/ 1478845 h 1478845"/>
              <a:gd name="connsiteX4" fmla="*/ 422731 w 1310713"/>
              <a:gd name="connsiteY4" fmla="*/ 1467556 h 1478845"/>
              <a:gd name="connsiteX0" fmla="*/ 422731 w 1378446"/>
              <a:gd name="connsiteY0" fmla="*/ 1467556 h 1478845"/>
              <a:gd name="connsiteX1" fmla="*/ 0 w 1378446"/>
              <a:gd name="connsiteY1" fmla="*/ 0 h 1478845"/>
              <a:gd name="connsiteX2" fmla="*/ 1378446 w 1378446"/>
              <a:gd name="connsiteY2" fmla="*/ 0 h 1478845"/>
              <a:gd name="connsiteX3" fmla="*/ 899270 w 1378446"/>
              <a:gd name="connsiteY3" fmla="*/ 1478845 h 1478845"/>
              <a:gd name="connsiteX4" fmla="*/ 422731 w 1378446"/>
              <a:gd name="connsiteY4" fmla="*/ 1467556 h 1478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8446" h="1478845">
                <a:moveTo>
                  <a:pt x="422731" y="1467556"/>
                </a:moveTo>
                <a:lnTo>
                  <a:pt x="0" y="0"/>
                </a:lnTo>
                <a:lnTo>
                  <a:pt x="1378446" y="0"/>
                </a:lnTo>
                <a:lnTo>
                  <a:pt x="899270" y="1478845"/>
                </a:lnTo>
                <a:lnTo>
                  <a:pt x="422731" y="1467556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Projection</a:t>
            </a:r>
          </a:p>
          <a:p>
            <a:pPr algn="ctr"/>
            <a:r>
              <a:rPr lang="en-US" i="1" dirty="0"/>
              <a:t>GCN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BCF2250-0B79-EDF6-6ACB-0395A42ADED9}"/>
              </a:ext>
            </a:extLst>
          </p:cNvPr>
          <p:cNvSpPr/>
          <p:nvPr/>
        </p:nvSpPr>
        <p:spPr>
          <a:xfrm>
            <a:off x="10187811" y="601969"/>
            <a:ext cx="372789" cy="37278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81769B-9873-C4C5-C686-5324BC0A568A}"/>
              </a:ext>
            </a:extLst>
          </p:cNvPr>
          <p:cNvSpPr txBox="1"/>
          <p:nvPr/>
        </p:nvSpPr>
        <p:spPr>
          <a:xfrm>
            <a:off x="10560600" y="601969"/>
            <a:ext cx="1497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Concatenate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68438D-7541-04A5-0F40-322F15B8EEC5}"/>
              </a:ext>
            </a:extLst>
          </p:cNvPr>
          <p:cNvSpPr txBox="1"/>
          <p:nvPr/>
        </p:nvSpPr>
        <p:spPr>
          <a:xfrm>
            <a:off x="9047302" y="3616404"/>
            <a:ext cx="180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Pool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1CA2CDE-F726-D742-7540-1E8AA1590857}"/>
              </a:ext>
            </a:extLst>
          </p:cNvPr>
          <p:cNvSpPr/>
          <p:nvPr/>
        </p:nvSpPr>
        <p:spPr>
          <a:xfrm>
            <a:off x="9764259" y="3155624"/>
            <a:ext cx="372789" cy="372789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rapezoid 51">
            <a:extLst>
              <a:ext uri="{FF2B5EF4-FFF2-40B4-BE49-F238E27FC236}">
                <a16:creationId xmlns:a16="http://schemas.microsoft.com/office/drawing/2014/main" id="{5DF39FB0-AF0D-004B-4938-17740AB4BE2C}"/>
              </a:ext>
            </a:extLst>
          </p:cNvPr>
          <p:cNvSpPr/>
          <p:nvPr/>
        </p:nvSpPr>
        <p:spPr>
          <a:xfrm rot="5400000">
            <a:off x="8168933" y="2531667"/>
            <a:ext cx="1244183" cy="1571852"/>
          </a:xfrm>
          <a:prstGeom prst="trapezoi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Projection</a:t>
            </a:r>
          </a:p>
          <a:p>
            <a:pPr algn="ctr"/>
            <a:r>
              <a:rPr lang="en-US" i="1" dirty="0"/>
              <a:t>GCN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A4F3DE-EEAD-0D0E-7589-9DFE7F2899D9}"/>
              </a:ext>
            </a:extLst>
          </p:cNvPr>
          <p:cNvSpPr/>
          <p:nvPr/>
        </p:nvSpPr>
        <p:spPr>
          <a:xfrm>
            <a:off x="5374943" y="2209433"/>
            <a:ext cx="1254563" cy="226517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Layer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Normalisation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E3E300-CCD6-05B4-C640-3775F8A32A9C}"/>
              </a:ext>
            </a:extLst>
          </p:cNvPr>
          <p:cNvSpPr/>
          <p:nvPr/>
        </p:nvSpPr>
        <p:spPr>
          <a:xfrm>
            <a:off x="6789926" y="2285468"/>
            <a:ext cx="1027866" cy="2064251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GAT</a:t>
            </a:r>
          </a:p>
        </p:txBody>
      </p:sp>
    </p:spTree>
    <p:extLst>
      <p:ext uri="{BB962C8B-B14F-4D97-AF65-F5344CB8AC3E}">
        <p14:creationId xmlns:p14="http://schemas.microsoft.com/office/powerpoint/2010/main" val="3216872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62D59-AFEC-DFEA-4B66-FD79FB6E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28C3-7DDA-BEF3-7C59-53B2F28D8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CCCE8-B000-A555-B377-77BD94C04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1F514-0202-39EA-A5FE-4E9280BB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29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09554-8AEA-955D-5BE4-A97ACA2E2440}"/>
              </a:ext>
            </a:extLst>
          </p:cNvPr>
          <p:cNvSpPr>
            <a:spLocks/>
          </p:cNvSpPr>
          <p:nvPr/>
        </p:nvSpPr>
        <p:spPr>
          <a:xfrm>
            <a:off x="-149087" y="-139148"/>
            <a:ext cx="12483548" cy="7166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B73E7C-A64D-DA33-480F-321B90264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487" y="2410383"/>
            <a:ext cx="7772400" cy="38562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9E1B17-266A-6DEC-2B84-EAB588BD2538}"/>
              </a:ext>
            </a:extLst>
          </p:cNvPr>
          <p:cNvSpPr txBox="1"/>
          <p:nvPr/>
        </p:nvSpPr>
        <p:spPr>
          <a:xfrm>
            <a:off x="623220" y="372533"/>
            <a:ext cx="109389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Learning rate : 0.001 </a:t>
            </a:r>
          </a:p>
          <a:p>
            <a:r>
              <a:rPr lang="en-US" dirty="0">
                <a:solidFill>
                  <a:schemeClr val="bg1"/>
                </a:solidFill>
              </a:rPr>
              <a:t>Hidden dimensions : 32</a:t>
            </a:r>
          </a:p>
          <a:p>
            <a:r>
              <a:rPr lang="en-US" dirty="0">
                <a:solidFill>
                  <a:schemeClr val="bg1"/>
                </a:solidFill>
              </a:rPr>
              <a:t>With and without PLM embeddings</a:t>
            </a:r>
          </a:p>
          <a:p>
            <a:r>
              <a:rPr lang="en-US" dirty="0">
                <a:solidFill>
                  <a:schemeClr val="bg1"/>
                </a:solidFill>
              </a:rPr>
              <a:t>With and without </a:t>
            </a:r>
            <a:r>
              <a:rPr lang="en-US" dirty="0" err="1">
                <a:solidFill>
                  <a:schemeClr val="bg1"/>
                </a:solidFill>
              </a:rPr>
              <a:t>buriedness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Binary Cross Entropy Loss</a:t>
            </a:r>
          </a:p>
        </p:txBody>
      </p:sp>
    </p:spTree>
    <p:extLst>
      <p:ext uri="{BB962C8B-B14F-4D97-AF65-F5344CB8AC3E}">
        <p14:creationId xmlns:p14="http://schemas.microsoft.com/office/powerpoint/2010/main" val="6411172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78B87-8C7F-C608-5E24-A37EB35BA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1151-A0C5-1697-0409-E55F0F17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AA5DE-A153-E9B4-9F28-33ECB93A3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AE58B-DE06-70CC-89B8-7D99939C0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30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E07D81-9CD6-49C8-EFB5-EE9B328EB98C}"/>
              </a:ext>
            </a:extLst>
          </p:cNvPr>
          <p:cNvSpPr>
            <a:spLocks/>
          </p:cNvSpPr>
          <p:nvPr/>
        </p:nvSpPr>
        <p:spPr>
          <a:xfrm>
            <a:off x="-79514" y="-154057"/>
            <a:ext cx="12483548" cy="7166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F92E3-C918-10CE-5F2A-0F1643155770}"/>
              </a:ext>
            </a:extLst>
          </p:cNvPr>
          <p:cNvSpPr txBox="1"/>
          <p:nvPr/>
        </p:nvSpPr>
        <p:spPr>
          <a:xfrm>
            <a:off x="623220" y="372533"/>
            <a:ext cx="10938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MAX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accent2"/>
                </a:solidFill>
              </a:rPr>
              <a:t>MEAN</a:t>
            </a:r>
            <a:r>
              <a:rPr lang="en-US" dirty="0">
                <a:solidFill>
                  <a:schemeClr val="bg1"/>
                </a:solidFill>
              </a:rPr>
              <a:t> pool same performances, </a:t>
            </a:r>
            <a:r>
              <a:rPr lang="en-US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ADD</a:t>
            </a:r>
            <a:r>
              <a:rPr lang="en-US" dirty="0">
                <a:solidFill>
                  <a:schemeClr val="bg1"/>
                </a:solidFill>
              </a:rPr>
              <a:t> doesn’t converge</a:t>
            </a:r>
          </a:p>
          <a:p>
            <a:r>
              <a:rPr lang="en-US" dirty="0">
                <a:solidFill>
                  <a:schemeClr val="bg1"/>
                </a:solidFill>
              </a:rPr>
              <a:t>Validation behaves the same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BE83A7-E8DE-4A9D-A61E-4FA5C01A8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486" y="1198251"/>
            <a:ext cx="7772400" cy="25678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D78224-3D8E-D192-4684-E8CC45D72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486" y="4026688"/>
            <a:ext cx="7772400" cy="256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62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DAA68-235D-B40F-B766-C51DAD49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1812B68-C3AA-9914-645E-C8421879563F}"/>
              </a:ext>
            </a:extLst>
          </p:cNvPr>
          <p:cNvSpPr>
            <a:spLocks/>
          </p:cNvSpPr>
          <p:nvPr/>
        </p:nvSpPr>
        <p:spPr>
          <a:xfrm>
            <a:off x="-145774" y="-100811"/>
            <a:ext cx="12483548" cy="7166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5D6DF40-CFE8-AA86-ED15-79C93D3F33EA}"/>
              </a:ext>
            </a:extLst>
          </p:cNvPr>
          <p:cNvSpPr/>
          <p:nvPr/>
        </p:nvSpPr>
        <p:spPr>
          <a:xfrm>
            <a:off x="4245264" y="1690688"/>
            <a:ext cx="3572525" cy="279100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 layers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712BA-CCB8-D2B4-4946-F426C185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0BA06-DA6E-6193-540E-36132983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31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42862D-FA6B-D571-A3CF-DDB5E3309F5C}"/>
              </a:ext>
            </a:extLst>
          </p:cNvPr>
          <p:cNvCxnSpPr>
            <a:cxnSpLocks/>
          </p:cNvCxnSpPr>
          <p:nvPr/>
        </p:nvCxnSpPr>
        <p:spPr>
          <a:xfrm>
            <a:off x="2201189" y="3347662"/>
            <a:ext cx="7754699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FE5B0FF-7A07-F5D7-0358-BAF5BA996AD0}"/>
              </a:ext>
            </a:extLst>
          </p:cNvPr>
          <p:cNvSpPr/>
          <p:nvPr/>
        </p:nvSpPr>
        <p:spPr>
          <a:xfrm>
            <a:off x="53326" y="196684"/>
            <a:ext cx="2384243" cy="67153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Lipid</a:t>
            </a:r>
          </a:p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Pre-trained CLM:</a:t>
            </a:r>
          </a:p>
          <a:p>
            <a:pPr marL="285750" indent="-285750" algn="ctr">
              <a:buFontTx/>
              <a:buChar char="-"/>
            </a:pPr>
            <a:r>
              <a:rPr lang="en-US" sz="1600" dirty="0" err="1">
                <a:solidFill>
                  <a:sysClr val="windowText" lastClr="000000"/>
                </a:solidFill>
              </a:rPr>
              <a:t>Molformer</a:t>
            </a:r>
            <a:r>
              <a:rPr lang="en-US" sz="1600" dirty="0">
                <a:solidFill>
                  <a:sysClr val="windowText" lastClr="000000"/>
                </a:solidFill>
              </a:rPr>
              <a:t> embeddings</a:t>
            </a:r>
          </a:p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111178-A91C-2674-B985-69C0D6DFCE8D}"/>
              </a:ext>
            </a:extLst>
          </p:cNvPr>
          <p:cNvSpPr/>
          <p:nvPr/>
        </p:nvSpPr>
        <p:spPr>
          <a:xfrm>
            <a:off x="4787549" y="2309892"/>
            <a:ext cx="1027866" cy="20642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Transformer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3AE653-6993-7D0D-BC90-21D92FB765AF}"/>
              </a:ext>
            </a:extLst>
          </p:cNvPr>
          <p:cNvSpPr txBox="1"/>
          <p:nvPr/>
        </p:nvSpPr>
        <p:spPr>
          <a:xfrm>
            <a:off x="10297468" y="3159081"/>
            <a:ext cx="1949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Head Group (41) Prediction Class</a:t>
            </a: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3BD38EA3-B9EA-97F6-51DD-8CDA2F8883CD}"/>
              </a:ext>
            </a:extLst>
          </p:cNvPr>
          <p:cNvSpPr/>
          <p:nvPr/>
        </p:nvSpPr>
        <p:spPr>
          <a:xfrm rot="5400000">
            <a:off x="2579074" y="2602598"/>
            <a:ext cx="1378446" cy="1478845"/>
          </a:xfrm>
          <a:custGeom>
            <a:avLst/>
            <a:gdLst>
              <a:gd name="connsiteX0" fmla="*/ 0 w 1244183"/>
              <a:gd name="connsiteY0" fmla="*/ 1478845 h 1478845"/>
              <a:gd name="connsiteX1" fmla="*/ 311046 w 1244183"/>
              <a:gd name="connsiteY1" fmla="*/ 0 h 1478845"/>
              <a:gd name="connsiteX2" fmla="*/ 933137 w 1244183"/>
              <a:gd name="connsiteY2" fmla="*/ 0 h 1478845"/>
              <a:gd name="connsiteX3" fmla="*/ 1244183 w 1244183"/>
              <a:gd name="connsiteY3" fmla="*/ 1478845 h 1478845"/>
              <a:gd name="connsiteX4" fmla="*/ 0 w 1244183"/>
              <a:gd name="connsiteY4" fmla="*/ 1478845 h 1478845"/>
              <a:gd name="connsiteX0" fmla="*/ 38909 w 933137"/>
              <a:gd name="connsiteY0" fmla="*/ 1467556 h 1478845"/>
              <a:gd name="connsiteX1" fmla="*/ 0 w 933137"/>
              <a:gd name="connsiteY1" fmla="*/ 0 h 1478845"/>
              <a:gd name="connsiteX2" fmla="*/ 622091 w 933137"/>
              <a:gd name="connsiteY2" fmla="*/ 0 h 1478845"/>
              <a:gd name="connsiteX3" fmla="*/ 933137 w 933137"/>
              <a:gd name="connsiteY3" fmla="*/ 1478845 h 1478845"/>
              <a:gd name="connsiteX4" fmla="*/ 38909 w 933137"/>
              <a:gd name="connsiteY4" fmla="*/ 1467556 h 1478845"/>
              <a:gd name="connsiteX0" fmla="*/ 38909 w 622091"/>
              <a:gd name="connsiteY0" fmla="*/ 1467556 h 1478845"/>
              <a:gd name="connsiteX1" fmla="*/ 0 w 622091"/>
              <a:gd name="connsiteY1" fmla="*/ 0 h 1478845"/>
              <a:gd name="connsiteX2" fmla="*/ 622091 w 622091"/>
              <a:gd name="connsiteY2" fmla="*/ 0 h 1478845"/>
              <a:gd name="connsiteX3" fmla="*/ 515448 w 622091"/>
              <a:gd name="connsiteY3" fmla="*/ 1478845 h 1478845"/>
              <a:gd name="connsiteX4" fmla="*/ 38909 w 622091"/>
              <a:gd name="connsiteY4" fmla="*/ 1467556 h 1478845"/>
              <a:gd name="connsiteX0" fmla="*/ 422731 w 1005913"/>
              <a:gd name="connsiteY0" fmla="*/ 1467556 h 1478845"/>
              <a:gd name="connsiteX1" fmla="*/ 0 w 1005913"/>
              <a:gd name="connsiteY1" fmla="*/ 0 h 1478845"/>
              <a:gd name="connsiteX2" fmla="*/ 1005913 w 1005913"/>
              <a:gd name="connsiteY2" fmla="*/ 0 h 1478845"/>
              <a:gd name="connsiteX3" fmla="*/ 899270 w 1005913"/>
              <a:gd name="connsiteY3" fmla="*/ 1478845 h 1478845"/>
              <a:gd name="connsiteX4" fmla="*/ 422731 w 1005913"/>
              <a:gd name="connsiteY4" fmla="*/ 1467556 h 1478845"/>
              <a:gd name="connsiteX0" fmla="*/ 422731 w 1310713"/>
              <a:gd name="connsiteY0" fmla="*/ 1467556 h 1478845"/>
              <a:gd name="connsiteX1" fmla="*/ 0 w 1310713"/>
              <a:gd name="connsiteY1" fmla="*/ 0 h 1478845"/>
              <a:gd name="connsiteX2" fmla="*/ 1310713 w 1310713"/>
              <a:gd name="connsiteY2" fmla="*/ 0 h 1478845"/>
              <a:gd name="connsiteX3" fmla="*/ 899270 w 1310713"/>
              <a:gd name="connsiteY3" fmla="*/ 1478845 h 1478845"/>
              <a:gd name="connsiteX4" fmla="*/ 422731 w 1310713"/>
              <a:gd name="connsiteY4" fmla="*/ 1467556 h 1478845"/>
              <a:gd name="connsiteX0" fmla="*/ 422731 w 1378446"/>
              <a:gd name="connsiteY0" fmla="*/ 1467556 h 1478845"/>
              <a:gd name="connsiteX1" fmla="*/ 0 w 1378446"/>
              <a:gd name="connsiteY1" fmla="*/ 0 h 1478845"/>
              <a:gd name="connsiteX2" fmla="*/ 1378446 w 1378446"/>
              <a:gd name="connsiteY2" fmla="*/ 0 h 1478845"/>
              <a:gd name="connsiteX3" fmla="*/ 899270 w 1378446"/>
              <a:gd name="connsiteY3" fmla="*/ 1478845 h 1478845"/>
              <a:gd name="connsiteX4" fmla="*/ 422731 w 1378446"/>
              <a:gd name="connsiteY4" fmla="*/ 1467556 h 1478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8446" h="1478845">
                <a:moveTo>
                  <a:pt x="422731" y="1467556"/>
                </a:moveTo>
                <a:lnTo>
                  <a:pt x="0" y="0"/>
                </a:lnTo>
                <a:lnTo>
                  <a:pt x="1378446" y="0"/>
                </a:lnTo>
                <a:lnTo>
                  <a:pt x="899270" y="1478845"/>
                </a:lnTo>
                <a:lnTo>
                  <a:pt x="422731" y="1467556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Projection</a:t>
            </a:r>
          </a:p>
          <a:p>
            <a:pPr algn="ctr"/>
            <a:r>
              <a:rPr lang="en-US" i="1" dirty="0"/>
              <a:t>Linear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E42B844-ADF0-E525-A489-A5D78923A083}"/>
              </a:ext>
            </a:extLst>
          </p:cNvPr>
          <p:cNvSpPr/>
          <p:nvPr/>
        </p:nvSpPr>
        <p:spPr>
          <a:xfrm>
            <a:off x="10187811" y="601969"/>
            <a:ext cx="372789" cy="37278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488DE4-3F35-EDF1-7233-6C8B64A6C011}"/>
              </a:ext>
            </a:extLst>
          </p:cNvPr>
          <p:cNvSpPr txBox="1"/>
          <p:nvPr/>
        </p:nvSpPr>
        <p:spPr>
          <a:xfrm>
            <a:off x="10560600" y="601969"/>
            <a:ext cx="1497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Concatenate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42B6C7-6B84-B7CB-09B2-C807700A0551}"/>
              </a:ext>
            </a:extLst>
          </p:cNvPr>
          <p:cNvSpPr txBox="1"/>
          <p:nvPr/>
        </p:nvSpPr>
        <p:spPr>
          <a:xfrm>
            <a:off x="9047302" y="3616404"/>
            <a:ext cx="1806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Pool</a:t>
            </a:r>
          </a:p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Or &lt;CLS&gt; token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4CB1E80-AB39-EC81-B454-E1A698189CB1}"/>
              </a:ext>
            </a:extLst>
          </p:cNvPr>
          <p:cNvSpPr/>
          <p:nvPr/>
        </p:nvSpPr>
        <p:spPr>
          <a:xfrm>
            <a:off x="9764259" y="3155624"/>
            <a:ext cx="372789" cy="372789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rapezoid 51">
            <a:extLst>
              <a:ext uri="{FF2B5EF4-FFF2-40B4-BE49-F238E27FC236}">
                <a16:creationId xmlns:a16="http://schemas.microsoft.com/office/drawing/2014/main" id="{B9809CC9-CC86-6526-4EE5-C53A5B418524}"/>
              </a:ext>
            </a:extLst>
          </p:cNvPr>
          <p:cNvSpPr/>
          <p:nvPr/>
        </p:nvSpPr>
        <p:spPr>
          <a:xfrm rot="5400000">
            <a:off x="8168933" y="2531667"/>
            <a:ext cx="1244183" cy="1571852"/>
          </a:xfrm>
          <a:prstGeom prst="trapezoi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Projection</a:t>
            </a:r>
          </a:p>
          <a:p>
            <a:pPr algn="ctr"/>
            <a:r>
              <a:rPr lang="en-US" i="1" dirty="0"/>
              <a:t>Linear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6CFD1-0766-4BE0-CF6B-3173362F9119}"/>
              </a:ext>
            </a:extLst>
          </p:cNvPr>
          <p:cNvSpPr/>
          <p:nvPr/>
        </p:nvSpPr>
        <p:spPr>
          <a:xfrm>
            <a:off x="6302669" y="2285467"/>
            <a:ext cx="1027866" cy="2064251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FF</a:t>
            </a:r>
          </a:p>
        </p:txBody>
      </p:sp>
    </p:spTree>
    <p:extLst>
      <p:ext uri="{BB962C8B-B14F-4D97-AF65-F5344CB8AC3E}">
        <p14:creationId xmlns:p14="http://schemas.microsoft.com/office/powerpoint/2010/main" val="1140041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DA9E-23F0-2AA9-A7E4-FF95BB3C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DAD5-628A-F7B3-4E1F-5E8CF332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2A72E-C0B7-27CB-E72F-047E66C9A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EA3AE-968D-5943-2664-81E9AF8C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32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BECE9A-9088-79C0-DC31-C09F71489AAB}"/>
              </a:ext>
            </a:extLst>
          </p:cNvPr>
          <p:cNvSpPr>
            <a:spLocks/>
          </p:cNvSpPr>
          <p:nvPr/>
        </p:nvSpPr>
        <p:spPr>
          <a:xfrm>
            <a:off x="-149088" y="-154057"/>
            <a:ext cx="12483548" cy="7166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29510-36B1-540E-7341-685D88883104}"/>
              </a:ext>
            </a:extLst>
          </p:cNvPr>
          <p:cNvSpPr txBox="1"/>
          <p:nvPr/>
        </p:nvSpPr>
        <p:spPr>
          <a:xfrm>
            <a:off x="623219" y="232864"/>
            <a:ext cx="109389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Learning rate : 0.001 </a:t>
            </a:r>
          </a:p>
          <a:p>
            <a:r>
              <a:rPr lang="en-US" dirty="0">
                <a:solidFill>
                  <a:schemeClr val="bg1"/>
                </a:solidFill>
              </a:rPr>
              <a:t>Hidden dimensions : 8</a:t>
            </a:r>
          </a:p>
          <a:p>
            <a:r>
              <a:rPr lang="en-US" dirty="0">
                <a:solidFill>
                  <a:schemeClr val="bg1"/>
                </a:solidFill>
              </a:rPr>
              <a:t>Binary Cross Entropy Loss</a:t>
            </a:r>
          </a:p>
          <a:p>
            <a:r>
              <a:rPr lang="en-US" dirty="0">
                <a:solidFill>
                  <a:schemeClr val="bg1"/>
                </a:solidFill>
              </a:rPr>
              <a:t>Epoch 1</a:t>
            </a:r>
          </a:p>
          <a:p>
            <a:r>
              <a:rPr lang="en-US" dirty="0">
                <a:solidFill>
                  <a:schemeClr val="bg1"/>
                </a:solidFill>
              </a:rPr>
              <a:t>1 Layer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EFC3-8777-FE8D-3846-68A9BD5F3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7544"/>
            <a:ext cx="5489222" cy="18236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3121AE-C5C4-4C21-CFCF-97EA0FD51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288" y="1806621"/>
            <a:ext cx="5489221" cy="18236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1A24C8-EBC1-8A69-9FCF-6C58817D4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67388"/>
            <a:ext cx="5489222" cy="18236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71B37A-FB9A-F99C-522A-975083903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8289" y="3967389"/>
            <a:ext cx="5489220" cy="182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355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C0A5-A69B-E37B-C85B-5C9F26B81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371D-9357-2E9C-5F5E-692CBB5C7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DAC5-C7A6-07FA-8BB3-5FAEFCAA7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FE237-E6FC-4D78-3405-06131531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33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37735E-7AF2-0F4D-DF9E-24B8DC02A31A}"/>
              </a:ext>
            </a:extLst>
          </p:cNvPr>
          <p:cNvSpPr>
            <a:spLocks/>
          </p:cNvSpPr>
          <p:nvPr/>
        </p:nvSpPr>
        <p:spPr>
          <a:xfrm>
            <a:off x="-149088" y="-154057"/>
            <a:ext cx="12483548" cy="7166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DFC0AD-AA26-D65A-58C2-59BE74BEABE5}"/>
              </a:ext>
            </a:extLst>
          </p:cNvPr>
          <p:cNvSpPr txBox="1"/>
          <p:nvPr/>
        </p:nvSpPr>
        <p:spPr>
          <a:xfrm>
            <a:off x="623220" y="372533"/>
            <a:ext cx="109389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Learning rate : 0.001 </a:t>
            </a:r>
          </a:p>
          <a:p>
            <a:r>
              <a:rPr lang="en-US" dirty="0">
                <a:solidFill>
                  <a:schemeClr val="bg1"/>
                </a:solidFill>
              </a:rPr>
              <a:t>Hidden dimensions : 32</a:t>
            </a:r>
          </a:p>
          <a:p>
            <a:r>
              <a:rPr lang="en-US" dirty="0">
                <a:solidFill>
                  <a:schemeClr val="bg1"/>
                </a:solidFill>
              </a:rPr>
              <a:t>Binary Cross Entropy Loss</a:t>
            </a:r>
          </a:p>
          <a:p>
            <a:r>
              <a:rPr lang="en-US" dirty="0">
                <a:solidFill>
                  <a:schemeClr val="bg1"/>
                </a:solidFill>
              </a:rPr>
              <a:t>Epoch 10</a:t>
            </a:r>
          </a:p>
          <a:p>
            <a:r>
              <a:rPr lang="en-US" dirty="0">
                <a:solidFill>
                  <a:schemeClr val="bg1"/>
                </a:solidFill>
              </a:rPr>
              <a:t>2 Layers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DE3B78-4312-13F6-7D6D-0370E6FC2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53" y="372533"/>
            <a:ext cx="7772400" cy="25822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593C68-77CC-DC79-4611-D23CF9DBA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7" y="3710814"/>
            <a:ext cx="7772400" cy="258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3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F2D25-71E3-0CC1-B8B5-9DB71F80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260A0-75BD-3267-6F3B-A41B12AD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562C3-5B67-C55F-B483-7202FBCEA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CC185-5748-A67B-1D55-703AF1F4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34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6CB6D0-FFE5-CBB1-A84F-D45BA67C5B58}"/>
              </a:ext>
            </a:extLst>
          </p:cNvPr>
          <p:cNvSpPr>
            <a:spLocks/>
          </p:cNvSpPr>
          <p:nvPr/>
        </p:nvSpPr>
        <p:spPr>
          <a:xfrm>
            <a:off x="-149088" y="-154057"/>
            <a:ext cx="12483548" cy="7166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E1FC7-8FBD-B323-A9A5-390470BCF1E1}"/>
              </a:ext>
            </a:extLst>
          </p:cNvPr>
          <p:cNvSpPr txBox="1"/>
          <p:nvPr/>
        </p:nvSpPr>
        <p:spPr>
          <a:xfrm>
            <a:off x="623220" y="372533"/>
            <a:ext cx="109389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Learning rate : 0.001 </a:t>
            </a:r>
          </a:p>
          <a:p>
            <a:r>
              <a:rPr lang="en-US" dirty="0">
                <a:solidFill>
                  <a:schemeClr val="bg1"/>
                </a:solidFill>
              </a:rPr>
              <a:t>Hidden dimensions : 32</a:t>
            </a:r>
          </a:p>
          <a:p>
            <a:r>
              <a:rPr lang="en-US" dirty="0">
                <a:solidFill>
                  <a:schemeClr val="bg1"/>
                </a:solidFill>
              </a:rPr>
              <a:t>Binary Cross Entropy Loss</a:t>
            </a:r>
          </a:p>
          <a:p>
            <a:r>
              <a:rPr lang="en-US" dirty="0">
                <a:solidFill>
                  <a:schemeClr val="bg1"/>
                </a:solidFill>
              </a:rPr>
              <a:t>Epoch 10</a:t>
            </a:r>
          </a:p>
          <a:p>
            <a:r>
              <a:rPr lang="en-US" dirty="0">
                <a:solidFill>
                  <a:schemeClr val="bg1"/>
                </a:solidFill>
              </a:rPr>
              <a:t>2 Layers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A09CD5-788A-38AD-2249-F0A459D57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577" y="355127"/>
            <a:ext cx="7772400" cy="25822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20639A-0CA4-1779-7B4F-DD35FDB2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7" y="3594742"/>
            <a:ext cx="7772400" cy="258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136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C7F64-B67C-4FA0-1893-BD805581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1867"/>
            <a:ext cx="10515600" cy="5635096"/>
          </a:xfrm>
        </p:spPr>
        <p:txBody>
          <a:bodyPr/>
          <a:lstStyle/>
          <a:p>
            <a:r>
              <a:rPr lang="en-US" dirty="0"/>
              <a:t>Try non structural PLM embeddings like ESM2</a:t>
            </a:r>
          </a:p>
          <a:p>
            <a:endParaRPr lang="en-US" dirty="0"/>
          </a:p>
          <a:p>
            <a:r>
              <a:rPr lang="en-US" dirty="0"/>
              <a:t> Test pooling only on pocket for protein family task</a:t>
            </a:r>
          </a:p>
          <a:p>
            <a:endParaRPr lang="en-US" dirty="0"/>
          </a:p>
          <a:p>
            <a:r>
              <a:rPr lang="en-US" dirty="0"/>
              <a:t>Combine the lipid and protein track only at the end to predict 410 classes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219C0-FC44-D3CC-0D89-F3EB3474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01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79980-50A5-495D-CAD5-44569FB0D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C5224-E349-F036-E42C-D83DBC2F1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A5C35-9027-106F-64B7-8B1B15EC6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84F51-7BC7-0919-B0E8-22D67EEC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36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1A9FB4-A5E5-FD02-1C87-4910972DFA8B}"/>
              </a:ext>
            </a:extLst>
          </p:cNvPr>
          <p:cNvSpPr>
            <a:spLocks/>
          </p:cNvSpPr>
          <p:nvPr/>
        </p:nvSpPr>
        <p:spPr>
          <a:xfrm>
            <a:off x="-163236" y="0"/>
            <a:ext cx="12483548" cy="7166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58C4CB-3D9B-A022-71C9-FE6724260C6B}"/>
              </a:ext>
            </a:extLst>
          </p:cNvPr>
          <p:cNvCxnSpPr>
            <a:cxnSpLocks/>
          </p:cNvCxnSpPr>
          <p:nvPr/>
        </p:nvCxnSpPr>
        <p:spPr>
          <a:xfrm>
            <a:off x="2189053" y="1334914"/>
            <a:ext cx="7754699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F0B63-AE98-96C9-D76B-9EA2AD05FBA9}"/>
              </a:ext>
            </a:extLst>
          </p:cNvPr>
          <p:cNvSpPr/>
          <p:nvPr/>
        </p:nvSpPr>
        <p:spPr>
          <a:xfrm>
            <a:off x="53326" y="196684"/>
            <a:ext cx="2384243" cy="26819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Protein</a:t>
            </a:r>
          </a:p>
          <a:p>
            <a:pPr algn="ctr"/>
            <a:endParaRPr lang="en-US" sz="1600" b="1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Geometric</a:t>
            </a:r>
            <a:r>
              <a:rPr lang="en-US" sz="1600" b="1" dirty="0">
                <a:solidFill>
                  <a:sysClr val="windowText" lastClr="000000"/>
                </a:solidFill>
              </a:rPr>
              <a:t>:</a:t>
            </a:r>
          </a:p>
          <a:p>
            <a:pPr marL="285750" indent="-285750" algn="ctr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</a:rPr>
              <a:t>AA type</a:t>
            </a:r>
          </a:p>
          <a:p>
            <a:pPr marL="285750" indent="-285750" algn="ctr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</a:rPr>
              <a:t>SAS area</a:t>
            </a:r>
          </a:p>
          <a:p>
            <a:pPr marL="285750" indent="-285750" algn="ctr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</a:rPr>
              <a:t>Volume</a:t>
            </a:r>
          </a:p>
          <a:p>
            <a:pPr marL="285750" indent="-285750" algn="ctr">
              <a:buFontTx/>
              <a:buChar char="-"/>
            </a:pPr>
            <a:endParaRPr lang="en-US" sz="1600" dirty="0">
              <a:solidFill>
                <a:sysClr val="windowText" lastClr="000000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en-US" sz="1600" dirty="0" err="1">
                <a:solidFill>
                  <a:sysClr val="windowText" lastClr="000000"/>
                </a:solidFill>
              </a:rPr>
              <a:t>Buriedness</a:t>
            </a:r>
            <a:endParaRPr lang="en-US" sz="1600" dirty="0">
              <a:solidFill>
                <a:sysClr val="windowText" lastClr="000000"/>
              </a:solidFill>
            </a:endParaRPr>
          </a:p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Pre-trained PLM:</a:t>
            </a:r>
          </a:p>
          <a:p>
            <a:pPr marL="285750" indent="-285750" algn="ctr">
              <a:buFontTx/>
              <a:buChar char="-"/>
            </a:pPr>
            <a:r>
              <a:rPr lang="en-US" sz="1600" dirty="0">
                <a:solidFill>
                  <a:sysClr val="windowText" lastClr="000000"/>
                </a:solidFill>
              </a:rPr>
              <a:t>ESM3 embeddings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587301-5540-F978-54DC-55ADB871AB89}"/>
              </a:ext>
            </a:extLst>
          </p:cNvPr>
          <p:cNvSpPr/>
          <p:nvPr/>
        </p:nvSpPr>
        <p:spPr>
          <a:xfrm>
            <a:off x="4148636" y="284101"/>
            <a:ext cx="1027866" cy="20642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GCN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CC1588-EF63-0F89-CD02-C3B0391E58E3}"/>
              </a:ext>
            </a:extLst>
          </p:cNvPr>
          <p:cNvSpPr txBox="1"/>
          <p:nvPr/>
        </p:nvSpPr>
        <p:spPr>
          <a:xfrm>
            <a:off x="10226444" y="2562812"/>
            <a:ext cx="1949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Family Prediction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Class (10)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x</a:t>
            </a: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603DA859-7EAA-E258-9CC9-D1563336E17F}"/>
              </a:ext>
            </a:extLst>
          </p:cNvPr>
          <p:cNvSpPr/>
          <p:nvPr/>
        </p:nvSpPr>
        <p:spPr>
          <a:xfrm rot="5400000">
            <a:off x="2566938" y="589850"/>
            <a:ext cx="1378446" cy="1478845"/>
          </a:xfrm>
          <a:custGeom>
            <a:avLst/>
            <a:gdLst>
              <a:gd name="connsiteX0" fmla="*/ 0 w 1244183"/>
              <a:gd name="connsiteY0" fmla="*/ 1478845 h 1478845"/>
              <a:gd name="connsiteX1" fmla="*/ 311046 w 1244183"/>
              <a:gd name="connsiteY1" fmla="*/ 0 h 1478845"/>
              <a:gd name="connsiteX2" fmla="*/ 933137 w 1244183"/>
              <a:gd name="connsiteY2" fmla="*/ 0 h 1478845"/>
              <a:gd name="connsiteX3" fmla="*/ 1244183 w 1244183"/>
              <a:gd name="connsiteY3" fmla="*/ 1478845 h 1478845"/>
              <a:gd name="connsiteX4" fmla="*/ 0 w 1244183"/>
              <a:gd name="connsiteY4" fmla="*/ 1478845 h 1478845"/>
              <a:gd name="connsiteX0" fmla="*/ 38909 w 933137"/>
              <a:gd name="connsiteY0" fmla="*/ 1467556 h 1478845"/>
              <a:gd name="connsiteX1" fmla="*/ 0 w 933137"/>
              <a:gd name="connsiteY1" fmla="*/ 0 h 1478845"/>
              <a:gd name="connsiteX2" fmla="*/ 622091 w 933137"/>
              <a:gd name="connsiteY2" fmla="*/ 0 h 1478845"/>
              <a:gd name="connsiteX3" fmla="*/ 933137 w 933137"/>
              <a:gd name="connsiteY3" fmla="*/ 1478845 h 1478845"/>
              <a:gd name="connsiteX4" fmla="*/ 38909 w 933137"/>
              <a:gd name="connsiteY4" fmla="*/ 1467556 h 1478845"/>
              <a:gd name="connsiteX0" fmla="*/ 38909 w 622091"/>
              <a:gd name="connsiteY0" fmla="*/ 1467556 h 1478845"/>
              <a:gd name="connsiteX1" fmla="*/ 0 w 622091"/>
              <a:gd name="connsiteY1" fmla="*/ 0 h 1478845"/>
              <a:gd name="connsiteX2" fmla="*/ 622091 w 622091"/>
              <a:gd name="connsiteY2" fmla="*/ 0 h 1478845"/>
              <a:gd name="connsiteX3" fmla="*/ 515448 w 622091"/>
              <a:gd name="connsiteY3" fmla="*/ 1478845 h 1478845"/>
              <a:gd name="connsiteX4" fmla="*/ 38909 w 622091"/>
              <a:gd name="connsiteY4" fmla="*/ 1467556 h 1478845"/>
              <a:gd name="connsiteX0" fmla="*/ 422731 w 1005913"/>
              <a:gd name="connsiteY0" fmla="*/ 1467556 h 1478845"/>
              <a:gd name="connsiteX1" fmla="*/ 0 w 1005913"/>
              <a:gd name="connsiteY1" fmla="*/ 0 h 1478845"/>
              <a:gd name="connsiteX2" fmla="*/ 1005913 w 1005913"/>
              <a:gd name="connsiteY2" fmla="*/ 0 h 1478845"/>
              <a:gd name="connsiteX3" fmla="*/ 899270 w 1005913"/>
              <a:gd name="connsiteY3" fmla="*/ 1478845 h 1478845"/>
              <a:gd name="connsiteX4" fmla="*/ 422731 w 1005913"/>
              <a:gd name="connsiteY4" fmla="*/ 1467556 h 1478845"/>
              <a:gd name="connsiteX0" fmla="*/ 422731 w 1310713"/>
              <a:gd name="connsiteY0" fmla="*/ 1467556 h 1478845"/>
              <a:gd name="connsiteX1" fmla="*/ 0 w 1310713"/>
              <a:gd name="connsiteY1" fmla="*/ 0 h 1478845"/>
              <a:gd name="connsiteX2" fmla="*/ 1310713 w 1310713"/>
              <a:gd name="connsiteY2" fmla="*/ 0 h 1478845"/>
              <a:gd name="connsiteX3" fmla="*/ 899270 w 1310713"/>
              <a:gd name="connsiteY3" fmla="*/ 1478845 h 1478845"/>
              <a:gd name="connsiteX4" fmla="*/ 422731 w 1310713"/>
              <a:gd name="connsiteY4" fmla="*/ 1467556 h 1478845"/>
              <a:gd name="connsiteX0" fmla="*/ 422731 w 1378446"/>
              <a:gd name="connsiteY0" fmla="*/ 1467556 h 1478845"/>
              <a:gd name="connsiteX1" fmla="*/ 0 w 1378446"/>
              <a:gd name="connsiteY1" fmla="*/ 0 h 1478845"/>
              <a:gd name="connsiteX2" fmla="*/ 1378446 w 1378446"/>
              <a:gd name="connsiteY2" fmla="*/ 0 h 1478845"/>
              <a:gd name="connsiteX3" fmla="*/ 899270 w 1378446"/>
              <a:gd name="connsiteY3" fmla="*/ 1478845 h 1478845"/>
              <a:gd name="connsiteX4" fmla="*/ 422731 w 1378446"/>
              <a:gd name="connsiteY4" fmla="*/ 1467556 h 1478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8446" h="1478845">
                <a:moveTo>
                  <a:pt x="422731" y="1467556"/>
                </a:moveTo>
                <a:lnTo>
                  <a:pt x="0" y="0"/>
                </a:lnTo>
                <a:lnTo>
                  <a:pt x="1378446" y="0"/>
                </a:lnTo>
                <a:lnTo>
                  <a:pt x="899270" y="1478845"/>
                </a:lnTo>
                <a:lnTo>
                  <a:pt x="422731" y="1467556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Projection</a:t>
            </a:r>
          </a:p>
          <a:p>
            <a:pPr algn="ctr"/>
            <a:r>
              <a:rPr lang="en-US" i="1" dirty="0"/>
              <a:t>GCN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6C7536-7E36-88C7-0263-ECF2845A9095}"/>
              </a:ext>
            </a:extLst>
          </p:cNvPr>
          <p:cNvSpPr txBox="1"/>
          <p:nvPr/>
        </p:nvSpPr>
        <p:spPr>
          <a:xfrm>
            <a:off x="9035166" y="1603656"/>
            <a:ext cx="180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Pool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8BD1D62-D5E5-19D9-CDEF-C20AD9407DF4}"/>
              </a:ext>
            </a:extLst>
          </p:cNvPr>
          <p:cNvSpPr/>
          <p:nvPr/>
        </p:nvSpPr>
        <p:spPr>
          <a:xfrm>
            <a:off x="9752123" y="1142876"/>
            <a:ext cx="372789" cy="372789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rapezoid 51">
            <a:extLst>
              <a:ext uri="{FF2B5EF4-FFF2-40B4-BE49-F238E27FC236}">
                <a16:creationId xmlns:a16="http://schemas.microsoft.com/office/drawing/2014/main" id="{BC89EABC-FE7A-918A-D14B-87D0249CC607}"/>
              </a:ext>
            </a:extLst>
          </p:cNvPr>
          <p:cNvSpPr/>
          <p:nvPr/>
        </p:nvSpPr>
        <p:spPr>
          <a:xfrm rot="5400000">
            <a:off x="8156797" y="518919"/>
            <a:ext cx="1244183" cy="1571852"/>
          </a:xfrm>
          <a:prstGeom prst="trapezoi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Projection</a:t>
            </a:r>
          </a:p>
          <a:p>
            <a:pPr algn="ctr"/>
            <a:r>
              <a:rPr lang="en-US" i="1" dirty="0"/>
              <a:t>GCN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73F9DA6-6FE4-1D00-6B71-2C6A6E5ADECC}"/>
              </a:ext>
            </a:extLst>
          </p:cNvPr>
          <p:cNvSpPr/>
          <p:nvPr/>
        </p:nvSpPr>
        <p:spPr>
          <a:xfrm>
            <a:off x="5362807" y="196685"/>
            <a:ext cx="1254563" cy="226517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Layer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Normalisation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121B97-3500-4D57-5733-4AC4503708D1}"/>
              </a:ext>
            </a:extLst>
          </p:cNvPr>
          <p:cNvSpPr/>
          <p:nvPr/>
        </p:nvSpPr>
        <p:spPr>
          <a:xfrm>
            <a:off x="6777790" y="272720"/>
            <a:ext cx="1027866" cy="2064251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GAT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99EEAA7-522F-D67B-E34A-41EAC0D1B475}"/>
              </a:ext>
            </a:extLst>
          </p:cNvPr>
          <p:cNvSpPr/>
          <p:nvPr/>
        </p:nvSpPr>
        <p:spPr>
          <a:xfrm>
            <a:off x="4245264" y="3600491"/>
            <a:ext cx="3572525" cy="279100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 layers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3F2656-D8AD-50EE-3AC0-0A2F79563DFF}"/>
              </a:ext>
            </a:extLst>
          </p:cNvPr>
          <p:cNvCxnSpPr>
            <a:cxnSpLocks/>
          </p:cNvCxnSpPr>
          <p:nvPr/>
        </p:nvCxnSpPr>
        <p:spPr>
          <a:xfrm>
            <a:off x="2201189" y="5257465"/>
            <a:ext cx="7754699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FA0E14D-D73D-6FFB-5019-8C8A1009E7CD}"/>
              </a:ext>
            </a:extLst>
          </p:cNvPr>
          <p:cNvSpPr/>
          <p:nvPr/>
        </p:nvSpPr>
        <p:spPr>
          <a:xfrm>
            <a:off x="-98996" y="4584667"/>
            <a:ext cx="2384243" cy="14565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Lipid</a:t>
            </a:r>
          </a:p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Pre-trained CLM:</a:t>
            </a:r>
          </a:p>
          <a:p>
            <a:pPr marL="285750" indent="-285750" algn="ctr">
              <a:buFontTx/>
              <a:buChar char="-"/>
            </a:pPr>
            <a:r>
              <a:rPr lang="en-US" sz="1600" dirty="0" err="1">
                <a:solidFill>
                  <a:sysClr val="windowText" lastClr="000000"/>
                </a:solidFill>
              </a:rPr>
              <a:t>Molformer</a:t>
            </a:r>
            <a:r>
              <a:rPr lang="en-US" sz="1600" dirty="0">
                <a:solidFill>
                  <a:sysClr val="windowText" lastClr="000000"/>
                </a:solidFill>
              </a:rPr>
              <a:t> embeddings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ACDB69-F98E-4528-D34B-904D06ECCEE6}"/>
              </a:ext>
            </a:extLst>
          </p:cNvPr>
          <p:cNvSpPr/>
          <p:nvPr/>
        </p:nvSpPr>
        <p:spPr>
          <a:xfrm>
            <a:off x="4787549" y="4219695"/>
            <a:ext cx="1027866" cy="20642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Transformer</a:t>
            </a:r>
          </a:p>
        </p:txBody>
      </p:sp>
      <p:sp>
        <p:nvSpPr>
          <p:cNvPr id="12" name="Trapezoid 22">
            <a:extLst>
              <a:ext uri="{FF2B5EF4-FFF2-40B4-BE49-F238E27FC236}">
                <a16:creationId xmlns:a16="http://schemas.microsoft.com/office/drawing/2014/main" id="{5472D3B1-F1EC-686F-6464-2DB016532B3F}"/>
              </a:ext>
            </a:extLst>
          </p:cNvPr>
          <p:cNvSpPr/>
          <p:nvPr/>
        </p:nvSpPr>
        <p:spPr>
          <a:xfrm rot="5400000">
            <a:off x="2579074" y="4512401"/>
            <a:ext cx="1378446" cy="1478845"/>
          </a:xfrm>
          <a:custGeom>
            <a:avLst/>
            <a:gdLst>
              <a:gd name="connsiteX0" fmla="*/ 0 w 1244183"/>
              <a:gd name="connsiteY0" fmla="*/ 1478845 h 1478845"/>
              <a:gd name="connsiteX1" fmla="*/ 311046 w 1244183"/>
              <a:gd name="connsiteY1" fmla="*/ 0 h 1478845"/>
              <a:gd name="connsiteX2" fmla="*/ 933137 w 1244183"/>
              <a:gd name="connsiteY2" fmla="*/ 0 h 1478845"/>
              <a:gd name="connsiteX3" fmla="*/ 1244183 w 1244183"/>
              <a:gd name="connsiteY3" fmla="*/ 1478845 h 1478845"/>
              <a:gd name="connsiteX4" fmla="*/ 0 w 1244183"/>
              <a:gd name="connsiteY4" fmla="*/ 1478845 h 1478845"/>
              <a:gd name="connsiteX0" fmla="*/ 38909 w 933137"/>
              <a:gd name="connsiteY0" fmla="*/ 1467556 h 1478845"/>
              <a:gd name="connsiteX1" fmla="*/ 0 w 933137"/>
              <a:gd name="connsiteY1" fmla="*/ 0 h 1478845"/>
              <a:gd name="connsiteX2" fmla="*/ 622091 w 933137"/>
              <a:gd name="connsiteY2" fmla="*/ 0 h 1478845"/>
              <a:gd name="connsiteX3" fmla="*/ 933137 w 933137"/>
              <a:gd name="connsiteY3" fmla="*/ 1478845 h 1478845"/>
              <a:gd name="connsiteX4" fmla="*/ 38909 w 933137"/>
              <a:gd name="connsiteY4" fmla="*/ 1467556 h 1478845"/>
              <a:gd name="connsiteX0" fmla="*/ 38909 w 622091"/>
              <a:gd name="connsiteY0" fmla="*/ 1467556 h 1478845"/>
              <a:gd name="connsiteX1" fmla="*/ 0 w 622091"/>
              <a:gd name="connsiteY1" fmla="*/ 0 h 1478845"/>
              <a:gd name="connsiteX2" fmla="*/ 622091 w 622091"/>
              <a:gd name="connsiteY2" fmla="*/ 0 h 1478845"/>
              <a:gd name="connsiteX3" fmla="*/ 515448 w 622091"/>
              <a:gd name="connsiteY3" fmla="*/ 1478845 h 1478845"/>
              <a:gd name="connsiteX4" fmla="*/ 38909 w 622091"/>
              <a:gd name="connsiteY4" fmla="*/ 1467556 h 1478845"/>
              <a:gd name="connsiteX0" fmla="*/ 422731 w 1005913"/>
              <a:gd name="connsiteY0" fmla="*/ 1467556 h 1478845"/>
              <a:gd name="connsiteX1" fmla="*/ 0 w 1005913"/>
              <a:gd name="connsiteY1" fmla="*/ 0 h 1478845"/>
              <a:gd name="connsiteX2" fmla="*/ 1005913 w 1005913"/>
              <a:gd name="connsiteY2" fmla="*/ 0 h 1478845"/>
              <a:gd name="connsiteX3" fmla="*/ 899270 w 1005913"/>
              <a:gd name="connsiteY3" fmla="*/ 1478845 h 1478845"/>
              <a:gd name="connsiteX4" fmla="*/ 422731 w 1005913"/>
              <a:gd name="connsiteY4" fmla="*/ 1467556 h 1478845"/>
              <a:gd name="connsiteX0" fmla="*/ 422731 w 1310713"/>
              <a:gd name="connsiteY0" fmla="*/ 1467556 h 1478845"/>
              <a:gd name="connsiteX1" fmla="*/ 0 w 1310713"/>
              <a:gd name="connsiteY1" fmla="*/ 0 h 1478845"/>
              <a:gd name="connsiteX2" fmla="*/ 1310713 w 1310713"/>
              <a:gd name="connsiteY2" fmla="*/ 0 h 1478845"/>
              <a:gd name="connsiteX3" fmla="*/ 899270 w 1310713"/>
              <a:gd name="connsiteY3" fmla="*/ 1478845 h 1478845"/>
              <a:gd name="connsiteX4" fmla="*/ 422731 w 1310713"/>
              <a:gd name="connsiteY4" fmla="*/ 1467556 h 1478845"/>
              <a:gd name="connsiteX0" fmla="*/ 422731 w 1378446"/>
              <a:gd name="connsiteY0" fmla="*/ 1467556 h 1478845"/>
              <a:gd name="connsiteX1" fmla="*/ 0 w 1378446"/>
              <a:gd name="connsiteY1" fmla="*/ 0 h 1478845"/>
              <a:gd name="connsiteX2" fmla="*/ 1378446 w 1378446"/>
              <a:gd name="connsiteY2" fmla="*/ 0 h 1478845"/>
              <a:gd name="connsiteX3" fmla="*/ 899270 w 1378446"/>
              <a:gd name="connsiteY3" fmla="*/ 1478845 h 1478845"/>
              <a:gd name="connsiteX4" fmla="*/ 422731 w 1378446"/>
              <a:gd name="connsiteY4" fmla="*/ 1467556 h 1478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8446" h="1478845">
                <a:moveTo>
                  <a:pt x="422731" y="1467556"/>
                </a:moveTo>
                <a:lnTo>
                  <a:pt x="0" y="0"/>
                </a:lnTo>
                <a:lnTo>
                  <a:pt x="1378446" y="0"/>
                </a:lnTo>
                <a:lnTo>
                  <a:pt x="899270" y="1478845"/>
                </a:lnTo>
                <a:lnTo>
                  <a:pt x="422731" y="1467556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Projection</a:t>
            </a:r>
          </a:p>
          <a:p>
            <a:pPr algn="ctr"/>
            <a:r>
              <a:rPr lang="en-US" i="1" dirty="0"/>
              <a:t>Linear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81C9C3-8066-C207-8B2F-30BB13CF4228}"/>
              </a:ext>
            </a:extLst>
          </p:cNvPr>
          <p:cNvSpPr txBox="1"/>
          <p:nvPr/>
        </p:nvSpPr>
        <p:spPr>
          <a:xfrm>
            <a:off x="9047302" y="5526207"/>
            <a:ext cx="1806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Pool</a:t>
            </a:r>
          </a:p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Or &lt;CLS&gt; token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FFF535D-3A15-6195-0360-D29E7D0F5BCE}"/>
              </a:ext>
            </a:extLst>
          </p:cNvPr>
          <p:cNvSpPr/>
          <p:nvPr/>
        </p:nvSpPr>
        <p:spPr>
          <a:xfrm>
            <a:off x="9764259" y="5065427"/>
            <a:ext cx="372789" cy="372789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0F8BDA2B-1A80-C306-8ABF-2539A7D5C6C5}"/>
              </a:ext>
            </a:extLst>
          </p:cNvPr>
          <p:cNvSpPr/>
          <p:nvPr/>
        </p:nvSpPr>
        <p:spPr>
          <a:xfrm rot="5400000">
            <a:off x="8168933" y="4441470"/>
            <a:ext cx="1244183" cy="1571852"/>
          </a:xfrm>
          <a:prstGeom prst="trapezoi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Projection</a:t>
            </a:r>
          </a:p>
          <a:p>
            <a:pPr algn="ctr"/>
            <a:r>
              <a:rPr lang="en-US" i="1" dirty="0"/>
              <a:t>Linear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167AEC-F031-409C-D555-D80E95D2F921}"/>
              </a:ext>
            </a:extLst>
          </p:cNvPr>
          <p:cNvSpPr/>
          <p:nvPr/>
        </p:nvSpPr>
        <p:spPr>
          <a:xfrm>
            <a:off x="6302669" y="4195270"/>
            <a:ext cx="1027866" cy="2064251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1EFDF9-D56E-FF31-97A8-78C1D85CBD05}"/>
              </a:ext>
            </a:extLst>
          </p:cNvPr>
          <p:cNvSpPr txBox="1"/>
          <p:nvPr/>
        </p:nvSpPr>
        <p:spPr>
          <a:xfrm>
            <a:off x="10341995" y="3456709"/>
            <a:ext cx="1949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Head Group (41) Prediction Class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4991305-F040-9BCE-60F8-14CA78133D0C}"/>
              </a:ext>
            </a:extLst>
          </p:cNvPr>
          <p:cNvCxnSpPr>
            <a:cxnSpLocks/>
          </p:cNvCxnSpPr>
          <p:nvPr/>
        </p:nvCxnSpPr>
        <p:spPr>
          <a:xfrm flipH="1" flipV="1">
            <a:off x="9943532" y="1334914"/>
            <a:ext cx="12356" cy="3922551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1D8EF9E-8B71-B8E9-A82E-543A1EA77414}"/>
              </a:ext>
            </a:extLst>
          </p:cNvPr>
          <p:cNvCxnSpPr>
            <a:cxnSpLocks/>
          </p:cNvCxnSpPr>
          <p:nvPr/>
        </p:nvCxnSpPr>
        <p:spPr>
          <a:xfrm>
            <a:off x="9943380" y="3341511"/>
            <a:ext cx="850945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839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092B-08E4-53C7-B66F-C43BA8485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4869C-3448-112E-9D03-14633C366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65125"/>
            <a:ext cx="3124200" cy="58118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ESM3 has better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19B74-E7C6-43AB-3286-1BB28B99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A8B21-727F-AFD4-5ECC-1F1867F60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79" y="215981"/>
            <a:ext cx="7772400" cy="3219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C7B248-1930-FE21-02A6-B67E037ED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521" y="3502187"/>
            <a:ext cx="7772400" cy="321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785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E6B48-DA22-0668-065C-AD28FEDEC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079" y="3837481"/>
            <a:ext cx="8703039" cy="233948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C78FB-9F8F-AD36-F7D6-46564564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FE68A-CC72-BBE4-EF41-18C42C1BF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79" y="215981"/>
            <a:ext cx="7772400" cy="3219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27C73-3FF6-0E56-9D40-41E5462D8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633" y="3638712"/>
            <a:ext cx="7772400" cy="3219288"/>
          </a:xfrm>
          <a:prstGeom prst="rect">
            <a:avLst/>
          </a:prstGeom>
        </p:spPr>
      </p:pic>
      <p:sp>
        <p:nvSpPr>
          <p:cNvPr id="7" name="Bent Arrow 6">
            <a:extLst>
              <a:ext uri="{FF2B5EF4-FFF2-40B4-BE49-F238E27FC236}">
                <a16:creationId xmlns:a16="http://schemas.microsoft.com/office/drawing/2014/main" id="{90F76A84-7D90-4B88-28DB-A8779CE7A973}"/>
              </a:ext>
            </a:extLst>
          </p:cNvPr>
          <p:cNvSpPr/>
          <p:nvPr/>
        </p:nvSpPr>
        <p:spPr>
          <a:xfrm>
            <a:off x="361244" y="2113613"/>
            <a:ext cx="1047831" cy="599607"/>
          </a:xfrm>
          <a:prstGeom prst="bentArrow">
            <a:avLst/>
          </a:prstGeom>
          <a:solidFill>
            <a:schemeClr val="lt1">
              <a:alpha val="22915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55834F-845F-EB31-5455-7DF022FD82CA}"/>
              </a:ext>
            </a:extLst>
          </p:cNvPr>
          <p:cNvSpPr txBox="1">
            <a:spLocks/>
          </p:cNvSpPr>
          <p:nvPr/>
        </p:nvSpPr>
        <p:spPr>
          <a:xfrm>
            <a:off x="8229600" y="365125"/>
            <a:ext cx="3124200" cy="5811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ESM3 has better results and can generalize</a:t>
            </a:r>
          </a:p>
        </p:txBody>
      </p:sp>
    </p:spTree>
    <p:extLst>
      <p:ext uri="{BB962C8B-B14F-4D97-AF65-F5344CB8AC3E}">
        <p14:creationId xmlns:p14="http://schemas.microsoft.com/office/powerpoint/2010/main" val="19752136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48A5-9AF5-D70A-BDD7-9F2E997F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769FF-4768-F73E-5C33-26530D2A6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9678" y="365125"/>
            <a:ext cx="3926175" cy="58118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Similar results are obtained for global and pocket pool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52863-1C97-BE2F-3E27-26C7E608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9724B-1C8A-237D-3FB7-A3CB12D15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7" y="144003"/>
            <a:ext cx="7772400" cy="3647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5C18B5-029B-AA8E-96FB-8EF6DC15C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453" y="3066568"/>
            <a:ext cx="7772400" cy="364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682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7BBAE-41EE-D9C5-9DE3-06843E507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F164D-9CED-57FB-264B-8AF99884D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4668" y="479685"/>
            <a:ext cx="4067332" cy="484182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55946-EB95-D4BC-FA9C-124C49A9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4FCB4B-62B5-C08D-ED85-51CDB7249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58" y="136249"/>
            <a:ext cx="7772400" cy="3647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AAEF43-61BD-C0D4-BB8D-ED148C257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442" y="3131873"/>
            <a:ext cx="7772400" cy="364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538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78E85-E573-E1F2-916A-43592BDA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30B4-38DB-014E-9F0F-88F1DD19F89E}" type="slidenum">
              <a:rPr lang="en-US" smtClean="0"/>
              <a:t>41</a:t>
            </a:fld>
            <a:endParaRPr lang="en-US" dirty="0"/>
          </a:p>
        </p:txBody>
      </p:sp>
      <p:pic>
        <p:nvPicPr>
          <p:cNvPr id="5" name="Picture 4" descr="A close-up of a colorful structure&#10;&#10;Description automatically generated">
            <a:extLst>
              <a:ext uri="{FF2B5EF4-FFF2-40B4-BE49-F238E27FC236}">
                <a16:creationId xmlns:a16="http://schemas.microsoft.com/office/drawing/2014/main" id="{CC965EBE-77B4-C095-2D35-B5B1437AB8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25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7254970-BAF5-4788-6573-BE0A6C84E0F6}"/>
              </a:ext>
            </a:extLst>
          </p:cNvPr>
          <p:cNvSpPr/>
          <p:nvPr/>
        </p:nvSpPr>
        <p:spPr>
          <a:xfrm>
            <a:off x="0" y="2116576"/>
            <a:ext cx="12188950" cy="188471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4500">
                <a:srgbClr val="000B25">
                  <a:alpha val="65882"/>
                </a:srgbClr>
              </a:gs>
              <a:gs pos="30000">
                <a:srgbClr val="130512">
                  <a:alpha val="74902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BA7FE-91F8-2288-CA67-9D8654051A76}"/>
              </a:ext>
            </a:extLst>
          </p:cNvPr>
          <p:cNvSpPr txBox="1"/>
          <p:nvPr/>
        </p:nvSpPr>
        <p:spPr>
          <a:xfrm>
            <a:off x="8518498" y="498257"/>
            <a:ext cx="2927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kra Petch" pitchFamily="2" charset="-34"/>
                <a:cs typeface="Chakra Petch" pitchFamily="2" charset="-34"/>
              </a:rPr>
              <a:t>Pre-Trained </a:t>
            </a:r>
          </a:p>
          <a:p>
            <a:r>
              <a:rPr lang="en-US" dirty="0">
                <a:latin typeface="Chakra Petch" pitchFamily="2" charset="-34"/>
                <a:cs typeface="Chakra Petch" pitchFamily="2" charset="-34"/>
              </a:rPr>
              <a:t>Chemical Language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E761D-0DAE-8C3A-1C02-EA54D238C5EE}"/>
              </a:ext>
            </a:extLst>
          </p:cNvPr>
          <p:cNvSpPr txBox="1"/>
          <p:nvPr/>
        </p:nvSpPr>
        <p:spPr>
          <a:xfrm>
            <a:off x="8518498" y="145816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kra Petch" pitchFamily="2" charset="-34"/>
                <a:cs typeface="Chakra Petch" pitchFamily="2" charset="-34"/>
              </a:rPr>
              <a:t>Graph Neural Network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B2C817-9CD5-399D-561C-3868CAE1D617}"/>
              </a:ext>
            </a:extLst>
          </p:cNvPr>
          <p:cNvCxnSpPr/>
          <p:nvPr/>
        </p:nvCxnSpPr>
        <p:spPr>
          <a:xfrm>
            <a:off x="8518498" y="498257"/>
            <a:ext cx="0" cy="646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5EA926-C2EC-FDCE-BC42-E99949164E6C}"/>
              </a:ext>
            </a:extLst>
          </p:cNvPr>
          <p:cNvCxnSpPr>
            <a:cxnSpLocks/>
          </p:cNvCxnSpPr>
          <p:nvPr/>
        </p:nvCxnSpPr>
        <p:spPr>
          <a:xfrm flipH="1">
            <a:off x="4028661" y="809470"/>
            <a:ext cx="44898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749067-7939-B8CA-5A4E-0E8DFE692640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2346358" y="809470"/>
            <a:ext cx="1682303" cy="1778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36C5120-01FD-0CCE-DE49-525199AD6304}"/>
              </a:ext>
            </a:extLst>
          </p:cNvPr>
          <p:cNvSpPr/>
          <p:nvPr/>
        </p:nvSpPr>
        <p:spPr>
          <a:xfrm>
            <a:off x="1232189" y="2393593"/>
            <a:ext cx="1305330" cy="1325563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6EEF7B-23E2-6008-AC98-338FA84D1A57}"/>
              </a:ext>
            </a:extLst>
          </p:cNvPr>
          <p:cNvSpPr/>
          <p:nvPr/>
        </p:nvSpPr>
        <p:spPr>
          <a:xfrm>
            <a:off x="5201824" y="2393594"/>
            <a:ext cx="1305330" cy="1325563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D5C72E-5F54-F385-D167-EE77BF7A98A2}"/>
              </a:ext>
            </a:extLst>
          </p:cNvPr>
          <p:cNvCxnSpPr>
            <a:cxnSpLocks/>
          </p:cNvCxnSpPr>
          <p:nvPr/>
        </p:nvCxnSpPr>
        <p:spPr>
          <a:xfrm>
            <a:off x="8522741" y="1458169"/>
            <a:ext cx="0" cy="367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74181A-2586-A676-8AD9-AA5F9FB17BBB}"/>
              </a:ext>
            </a:extLst>
          </p:cNvPr>
          <p:cNvCxnSpPr>
            <a:cxnSpLocks/>
          </p:cNvCxnSpPr>
          <p:nvPr/>
        </p:nvCxnSpPr>
        <p:spPr>
          <a:xfrm flipH="1">
            <a:off x="7182678" y="1646238"/>
            <a:ext cx="1340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7D64A2-F36D-CB13-041A-B7DD69E173AC}"/>
              </a:ext>
            </a:extLst>
          </p:cNvPr>
          <p:cNvCxnSpPr>
            <a:cxnSpLocks/>
          </p:cNvCxnSpPr>
          <p:nvPr/>
        </p:nvCxnSpPr>
        <p:spPr>
          <a:xfrm flipH="1">
            <a:off x="6273579" y="1646238"/>
            <a:ext cx="909098" cy="940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6188FC7-FF28-9302-0995-A22077008CCC}"/>
              </a:ext>
            </a:extLst>
          </p:cNvPr>
          <p:cNvSpPr txBox="1"/>
          <p:nvPr/>
        </p:nvSpPr>
        <p:spPr>
          <a:xfrm>
            <a:off x="6581134" y="2838907"/>
            <a:ext cx="1555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kra Petch" pitchFamily="2" charset="-34"/>
                <a:cs typeface="Chakra Petch" pitchFamily="2" charset="-34"/>
              </a:rPr>
              <a:t>Protein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6C6870-B6E2-BC01-5949-B7E02C146CC6}"/>
              </a:ext>
            </a:extLst>
          </p:cNvPr>
          <p:cNvSpPr txBox="1"/>
          <p:nvPr/>
        </p:nvSpPr>
        <p:spPr>
          <a:xfrm>
            <a:off x="2635413" y="2834513"/>
            <a:ext cx="1077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kra Petch" pitchFamily="2" charset="-34"/>
                <a:cs typeface="Chakra Petch" pitchFamily="2" charset="-34"/>
              </a:rPr>
              <a:t>Lipid</a:t>
            </a:r>
          </a:p>
        </p:txBody>
      </p:sp>
      <p:pic>
        <p:nvPicPr>
          <p:cNvPr id="1026" name="Picture 2" descr="UiB Videre">
            <a:extLst>
              <a:ext uri="{FF2B5EF4-FFF2-40B4-BE49-F238E27FC236}">
                <a16:creationId xmlns:a16="http://schemas.microsoft.com/office/drawing/2014/main" id="{DEF41BBA-ABDE-2E4A-3CE2-9DC4FC213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8054" y="5804451"/>
            <a:ext cx="1053945" cy="105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52E2190-8A1F-3B15-1065-2501D9C60B7A}"/>
              </a:ext>
            </a:extLst>
          </p:cNvPr>
          <p:cNvSpPr txBox="1"/>
          <p:nvPr/>
        </p:nvSpPr>
        <p:spPr>
          <a:xfrm>
            <a:off x="8571108" y="6171288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kra Petch" pitchFamily="2" charset="-34"/>
                <a:cs typeface="Chakra Petch" pitchFamily="2" charset="-34"/>
              </a:rPr>
              <a:t>Florian Echelard, </a:t>
            </a:r>
            <a:r>
              <a:rPr lang="en-US" dirty="0" err="1">
                <a:latin typeface="Chakra Petch" pitchFamily="2" charset="-34"/>
                <a:cs typeface="Chakra Petch" pitchFamily="2" charset="-34"/>
              </a:rPr>
              <a:t>UiB</a:t>
            </a:r>
            <a:endParaRPr lang="en-US" dirty="0">
              <a:latin typeface="Chakra Petch" pitchFamily="2" charset="-34"/>
              <a:cs typeface="Chakra Petch" pitchFamily="2" charset="-3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B651D1-5BEA-D281-13E3-187FD7E68C0E}"/>
              </a:ext>
            </a:extLst>
          </p:cNvPr>
          <p:cNvSpPr txBox="1"/>
          <p:nvPr/>
        </p:nvSpPr>
        <p:spPr>
          <a:xfrm>
            <a:off x="8136368" y="3852044"/>
            <a:ext cx="40779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hakra Petch" pitchFamily="2" charset="-34"/>
                <a:cs typeface="Chakra Petch" pitchFamily="2" charset="-34"/>
              </a:rPr>
              <a:t>Unraveling Transient Interactions Between Transport Proteins and Membrane Lipids</a:t>
            </a:r>
          </a:p>
        </p:txBody>
      </p:sp>
    </p:spTree>
    <p:extLst>
      <p:ext uri="{BB962C8B-B14F-4D97-AF65-F5344CB8AC3E}">
        <p14:creationId xmlns:p14="http://schemas.microsoft.com/office/powerpoint/2010/main" val="1720556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31038</TotalTime>
  <Words>746</Words>
  <Application>Microsoft Macintosh PowerPoint</Application>
  <PresentationFormat>Widescreen</PresentationFormat>
  <Paragraphs>419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Aptos</vt:lpstr>
      <vt:lpstr>Aptos Display</vt:lpstr>
      <vt:lpstr>Arial</vt:lpstr>
      <vt:lpstr>Baloo Tamma 2 SemiBold</vt:lpstr>
      <vt:lpstr>Chakra Petch</vt:lpstr>
      <vt:lpstr>ff5</vt:lpstr>
      <vt:lpstr>Helvetica Neue</vt:lpstr>
      <vt:lpstr>NimbusRomNo9L</vt:lpstr>
      <vt:lpstr>Office Theme</vt:lpstr>
      <vt:lpstr>Emulsify : Investigating Protein-Lipid Interaction with Deep Learning</vt:lpstr>
      <vt:lpstr>Peripheral membrane Protein (PMP)</vt:lpstr>
      <vt:lpstr>Lipid Transfer Protein (LTP)</vt:lpstr>
      <vt:lpstr>Challenges</vt:lpstr>
      <vt:lpstr>Goal</vt:lpstr>
      <vt:lpstr>Data</vt:lpstr>
      <vt:lpstr>PowerPoint Presentation</vt:lpstr>
      <vt:lpstr>PowerPoint Presentation</vt:lpstr>
      <vt:lpstr>Methods</vt:lpstr>
      <vt:lpstr>Graph Neural Networks</vt:lpstr>
      <vt:lpstr>Language Models</vt:lpstr>
      <vt:lpstr>Transformer (Attention)</vt:lpstr>
      <vt:lpstr>Equivariant GNN</vt:lpstr>
      <vt:lpstr>Equivariant GNN</vt:lpstr>
      <vt:lpstr>Equivariant GNN</vt:lpstr>
      <vt:lpstr>Chemical LM</vt:lpstr>
      <vt:lpstr>Chemical LM</vt:lpstr>
      <vt:lpstr>Self and Cross-Attention</vt:lpstr>
      <vt:lpstr>Transformer (Attention)</vt:lpstr>
      <vt:lpstr>Graph pooling</vt:lpstr>
      <vt:lpstr>Main points</vt:lpstr>
      <vt:lpstr>Initial Designs</vt:lpstr>
      <vt:lpstr>PowerPoint Presentation</vt:lpstr>
      <vt:lpstr>PowerPoint Presentation</vt:lpstr>
      <vt:lpstr>Toy Task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Pierre Echelard</dc:creator>
  <cp:lastModifiedBy>Florian Pierre Echelard</cp:lastModifiedBy>
  <cp:revision>44</cp:revision>
  <dcterms:created xsi:type="dcterms:W3CDTF">2024-08-26T13:47:43Z</dcterms:created>
  <dcterms:modified xsi:type="dcterms:W3CDTF">2025-06-18T09:09:08Z</dcterms:modified>
</cp:coreProperties>
</file>